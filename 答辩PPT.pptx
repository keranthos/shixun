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4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5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2" r:id="rId2"/>
    <p:sldMasterId id="2147483655" r:id="rId3"/>
    <p:sldMasterId id="2147483659" r:id="rId4"/>
  </p:sldMasterIdLst>
  <p:notesMasterIdLst>
    <p:notesMasterId r:id="rId25"/>
  </p:notesMasterIdLst>
  <p:sldIdLst>
    <p:sldId id="698" r:id="rId5"/>
    <p:sldId id="725" r:id="rId6"/>
    <p:sldId id="699" r:id="rId7"/>
    <p:sldId id="718" r:id="rId8"/>
    <p:sldId id="701" r:id="rId9"/>
    <p:sldId id="702" r:id="rId10"/>
    <p:sldId id="719" r:id="rId11"/>
    <p:sldId id="720" r:id="rId12"/>
    <p:sldId id="705" r:id="rId13"/>
    <p:sldId id="721" r:id="rId14"/>
    <p:sldId id="722" r:id="rId15"/>
    <p:sldId id="724" r:id="rId16"/>
    <p:sldId id="727" r:id="rId17"/>
    <p:sldId id="729" r:id="rId18"/>
    <p:sldId id="706" r:id="rId19"/>
    <p:sldId id="711" r:id="rId20"/>
    <p:sldId id="726" r:id="rId21"/>
    <p:sldId id="728" r:id="rId22"/>
    <p:sldId id="716" r:id="rId23"/>
    <p:sldId id="715" r:id="rId24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51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9D90A01-9A4E-4539-8CC6-783CEC761295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4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4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7" autoAdjust="0"/>
    <p:restoredTop sz="80537" autoAdjust="0"/>
  </p:normalViewPr>
  <p:slideViewPr>
    <p:cSldViewPr snapToGrid="0" snapToObjects="1">
      <p:cViewPr varScale="1">
        <p:scale>
          <a:sx n="94" d="100"/>
          <a:sy n="94" d="100"/>
        </p:scale>
        <p:origin x="5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440A07-CB81-B94E-8486-6299C881C602}" type="datetimeFigureOut">
              <a:rPr kumimoji="1" lang="zh-CN" altLang="en-US" smtClean="0"/>
              <a:t>2026/7/9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9EFDB2-DEE3-F041-A376-A8AE77F3A62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25763" y="849313"/>
            <a:ext cx="4076700" cy="229393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57365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9EFDB2-DEE3-F041-A376-A8AE77F3A62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28032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124402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5082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60346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22396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98236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88242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55370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66612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7749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76516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25763" y="849313"/>
            <a:ext cx="4076700" cy="229393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9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46709" y="-1"/>
            <a:ext cx="10210576" cy="928685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在这里填，求不弄乱样式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46709" y="1227147"/>
            <a:ext cx="11199741" cy="523220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marL="360045" indent="-360045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150000"/>
              </a:lnSpc>
              <a:buClr>
                <a:srgbClr val="0B5128"/>
              </a:buClr>
              <a:buFont typeface="Wingdings" panose="05000000000000000000" pitchFamily="2" charset="2"/>
              <a:buChar char="Ø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在这里填，求不弄乱样式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47811" y="6338999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2000">
                <a:solidFill>
                  <a:srgbClr val="0B5128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E334DFF-A8DE-B148-81B1-4F37B46AC47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7" name="直接连接符 9"/>
          <p:cNvCxnSpPr/>
          <p:nvPr userDrawn="1"/>
        </p:nvCxnSpPr>
        <p:spPr>
          <a:xfrm>
            <a:off x="0" y="928688"/>
            <a:ext cx="12192000" cy="0"/>
          </a:xfrm>
          <a:prstGeom prst="line">
            <a:avLst/>
          </a:prstGeom>
          <a:ln w="38100">
            <a:solidFill>
              <a:srgbClr val="0B51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E:\学校\20121109221446303940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1845" y="434104"/>
            <a:ext cx="989166" cy="989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89" y="6206283"/>
            <a:ext cx="1493521" cy="497841"/>
          </a:xfrm>
          <a:prstGeom prst="rect">
            <a:avLst/>
          </a:prstGeom>
        </p:spPr>
      </p:pic>
      <p:sp>
        <p:nvSpPr>
          <p:cNvPr id="15" name="内容占位符 2"/>
          <p:cNvSpPr>
            <a:spLocks noGrp="1"/>
          </p:cNvSpPr>
          <p:nvPr>
            <p:ph idx="13" hasCustomPrompt="1"/>
          </p:nvPr>
        </p:nvSpPr>
        <p:spPr>
          <a:xfrm>
            <a:off x="697230" y="1942078"/>
            <a:ext cx="4354455" cy="581057"/>
          </a:xfrm>
          <a:prstGeom prst="rect">
            <a:avLst/>
          </a:prstGeom>
        </p:spPr>
        <p:txBody>
          <a:bodyPr wrap="square" lIns="90000" anchor="t" anchorCtr="0">
            <a:spAutoFit/>
          </a:bodyPr>
          <a:lstStyle>
            <a:lvl1pPr marL="360045" indent="-360045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150000"/>
              </a:lnSpc>
              <a:buClr>
                <a:srgbClr val="0B5128"/>
              </a:buClr>
              <a:buFont typeface="Wingdings" panose="05000000000000000000" pitchFamily="2" charset="2"/>
              <a:buChar char="Ø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在这里填，求不弄乱样式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2788920" y="23552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46709" y="-1"/>
            <a:ext cx="10210576" cy="928685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在这里填，求不弄乱样式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46709" y="1227147"/>
            <a:ext cx="11199741" cy="523220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marL="360045" indent="-360045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150000"/>
              </a:lnSpc>
              <a:buClr>
                <a:srgbClr val="0B5128"/>
              </a:buClr>
              <a:buFont typeface="Wingdings" panose="05000000000000000000" pitchFamily="2" charset="2"/>
              <a:buChar char="Ø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在这里填，求不弄乱样式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47811" y="6338999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2000">
                <a:solidFill>
                  <a:srgbClr val="0B5128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E334DFF-A8DE-B148-81B1-4F37B46AC47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7" name="直接连接符 9"/>
          <p:cNvCxnSpPr/>
          <p:nvPr userDrawn="1"/>
        </p:nvCxnSpPr>
        <p:spPr>
          <a:xfrm>
            <a:off x="0" y="928688"/>
            <a:ext cx="12192000" cy="0"/>
          </a:xfrm>
          <a:prstGeom prst="line">
            <a:avLst/>
          </a:prstGeom>
          <a:ln w="38100">
            <a:solidFill>
              <a:srgbClr val="0B51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E:\学校\20121109221446303940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1845" y="434104"/>
            <a:ext cx="989166" cy="989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89" y="6206283"/>
            <a:ext cx="1493521" cy="497841"/>
          </a:xfrm>
          <a:prstGeom prst="rect">
            <a:avLst/>
          </a:prstGeom>
        </p:spPr>
      </p:pic>
      <p:sp>
        <p:nvSpPr>
          <p:cNvPr id="15" name="内容占位符 2"/>
          <p:cNvSpPr>
            <a:spLocks noGrp="1"/>
          </p:cNvSpPr>
          <p:nvPr>
            <p:ph idx="13" hasCustomPrompt="1"/>
          </p:nvPr>
        </p:nvSpPr>
        <p:spPr>
          <a:xfrm>
            <a:off x="697230" y="1942078"/>
            <a:ext cx="4354455" cy="581057"/>
          </a:xfrm>
          <a:prstGeom prst="rect">
            <a:avLst/>
          </a:prstGeom>
        </p:spPr>
        <p:txBody>
          <a:bodyPr wrap="square" lIns="90000" anchor="t" anchorCtr="0">
            <a:spAutoFit/>
          </a:bodyPr>
          <a:lstStyle>
            <a:lvl1pPr marL="360045" indent="-360045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150000"/>
              </a:lnSpc>
              <a:buClr>
                <a:srgbClr val="0B5128"/>
              </a:buClr>
              <a:buFont typeface="Wingdings" panose="05000000000000000000" pitchFamily="2" charset="2"/>
              <a:buChar char="Ø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在这里填，求不弄乱样式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2788920" y="23552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46709" y="-1"/>
            <a:ext cx="10210576" cy="928685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在这里填，求不弄乱样式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46709" y="1227147"/>
            <a:ext cx="11199741" cy="523220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marL="360045" indent="-360045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150000"/>
              </a:lnSpc>
              <a:buClr>
                <a:srgbClr val="0B5128"/>
              </a:buClr>
              <a:buFont typeface="Wingdings" panose="05000000000000000000" pitchFamily="2" charset="2"/>
              <a:buChar char="Ø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在这里填，求不弄乱样式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47811" y="6338999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2000">
                <a:solidFill>
                  <a:srgbClr val="0B5128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E334DFF-A8DE-B148-81B1-4F37B46AC47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7" name="直接连接符 9"/>
          <p:cNvCxnSpPr/>
          <p:nvPr userDrawn="1"/>
        </p:nvCxnSpPr>
        <p:spPr>
          <a:xfrm>
            <a:off x="0" y="928688"/>
            <a:ext cx="12192000" cy="0"/>
          </a:xfrm>
          <a:prstGeom prst="line">
            <a:avLst/>
          </a:prstGeom>
          <a:ln w="38100">
            <a:solidFill>
              <a:srgbClr val="0B51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E:\学校\20121109221446303940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1845" y="434104"/>
            <a:ext cx="989166" cy="989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0989" y="6206283"/>
            <a:ext cx="1493521" cy="497841"/>
          </a:xfrm>
          <a:prstGeom prst="rect">
            <a:avLst/>
          </a:prstGeom>
        </p:spPr>
      </p:pic>
      <p:sp>
        <p:nvSpPr>
          <p:cNvPr id="15" name="内容占位符 2"/>
          <p:cNvSpPr>
            <a:spLocks noGrp="1"/>
          </p:cNvSpPr>
          <p:nvPr>
            <p:ph idx="13" hasCustomPrompt="1"/>
          </p:nvPr>
        </p:nvSpPr>
        <p:spPr>
          <a:xfrm>
            <a:off x="697230" y="1942078"/>
            <a:ext cx="4354455" cy="581057"/>
          </a:xfrm>
          <a:prstGeom prst="rect">
            <a:avLst/>
          </a:prstGeom>
        </p:spPr>
        <p:txBody>
          <a:bodyPr wrap="square" lIns="90000" anchor="t" anchorCtr="0">
            <a:spAutoFit/>
          </a:bodyPr>
          <a:lstStyle>
            <a:lvl1pPr marL="360045" indent="-360045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150000"/>
              </a:lnSpc>
              <a:buClr>
                <a:srgbClr val="0B5128"/>
              </a:buClr>
              <a:buFont typeface="Wingdings" panose="05000000000000000000" pitchFamily="2" charset="2"/>
              <a:buChar char="Ø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在这里填，求不弄乱样式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2788920" y="23552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46709" y="-1"/>
            <a:ext cx="10210576" cy="928685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在这里填，求不弄乱样式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46709" y="1227147"/>
            <a:ext cx="11199741" cy="523220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marL="360045" indent="-360045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150000"/>
              </a:lnSpc>
              <a:buClr>
                <a:srgbClr val="0B5128"/>
              </a:buClr>
              <a:buFont typeface="Wingdings" panose="05000000000000000000" pitchFamily="2" charset="2"/>
              <a:buChar char="Ø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在这里填，求不弄乱样式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47811" y="6338999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2000">
                <a:solidFill>
                  <a:srgbClr val="0B5128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E334DFF-A8DE-B148-81B1-4F37B46AC47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7" name="直接连接符 9"/>
          <p:cNvCxnSpPr/>
          <p:nvPr userDrawn="1"/>
        </p:nvCxnSpPr>
        <p:spPr>
          <a:xfrm>
            <a:off x="0" y="928688"/>
            <a:ext cx="12192000" cy="0"/>
          </a:xfrm>
          <a:prstGeom prst="line">
            <a:avLst/>
          </a:prstGeom>
          <a:ln w="38100">
            <a:solidFill>
              <a:srgbClr val="0B51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E:\学校\20121109221446303940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1845" y="434104"/>
            <a:ext cx="989166" cy="989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0989" y="6206283"/>
            <a:ext cx="1493521" cy="497841"/>
          </a:xfrm>
          <a:prstGeom prst="rect">
            <a:avLst/>
          </a:prstGeom>
        </p:spPr>
      </p:pic>
      <p:sp>
        <p:nvSpPr>
          <p:cNvPr id="15" name="内容占位符 2"/>
          <p:cNvSpPr>
            <a:spLocks noGrp="1"/>
          </p:cNvSpPr>
          <p:nvPr>
            <p:ph idx="13" hasCustomPrompt="1"/>
          </p:nvPr>
        </p:nvSpPr>
        <p:spPr>
          <a:xfrm>
            <a:off x="697230" y="1942078"/>
            <a:ext cx="4354455" cy="581057"/>
          </a:xfrm>
          <a:prstGeom prst="rect">
            <a:avLst/>
          </a:prstGeom>
        </p:spPr>
        <p:txBody>
          <a:bodyPr wrap="square" lIns="90000" anchor="t" anchorCtr="0">
            <a:spAutoFit/>
          </a:bodyPr>
          <a:lstStyle>
            <a:lvl1pPr marL="360045" indent="-360045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150000"/>
              </a:lnSpc>
              <a:buClr>
                <a:srgbClr val="0B5128"/>
              </a:buClr>
              <a:buFont typeface="Wingdings" panose="05000000000000000000" pitchFamily="2" charset="2"/>
              <a:buChar char="Ø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在这里填，求不弄乱样式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2788920" y="23552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17.png"/><Relationship Id="rId5" Type="http://schemas.openxmlformats.org/officeDocument/2006/relationships/tags" Target="../tags/tag19.xml"/><Relationship Id="rId10" Type="http://schemas.openxmlformats.org/officeDocument/2006/relationships/notesSlide" Target="../notesSlides/notesSlide15.xml"/><Relationship Id="rId4" Type="http://schemas.openxmlformats.org/officeDocument/2006/relationships/tags" Target="../tags/tag18.xml"/><Relationship Id="rId9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18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2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V="1">
            <a:off x="0" y="952870"/>
            <a:ext cx="12192000" cy="16671"/>
          </a:xfrm>
          <a:prstGeom prst="line">
            <a:avLst/>
          </a:prstGeom>
          <a:ln w="38100">
            <a:solidFill>
              <a:srgbClr val="00531D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/>
          <a:srcRect r="84457"/>
          <a:stretch>
            <a:fillRect/>
          </a:stretch>
        </p:blipFill>
        <p:spPr>
          <a:xfrm>
            <a:off x="10378505" y="378639"/>
            <a:ext cx="1008112" cy="115605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-1" y="1963689"/>
            <a:ext cx="12192000" cy="2736898"/>
          </a:xfrm>
          <a:prstGeom prst="rect">
            <a:avLst/>
          </a:prstGeom>
          <a:solidFill>
            <a:srgbClr val="095D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73144"/>
            <a:ext cx="6485997" cy="1156056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2983690" y="2459405"/>
            <a:ext cx="6340197" cy="17770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4800" dirty="0">
                <a:solidFill>
                  <a:schemeClr val="bg1"/>
                </a:solidFill>
                <a:latin typeface="Arial" panose="020B0604020202090204" pitchFamily="34" charset="0"/>
                <a:ea typeface="黑体-简" panose="02000000000000000000" charset="-122"/>
                <a:sym typeface="+mn-ea"/>
              </a:rPr>
              <a:t>《</a:t>
            </a:r>
            <a:r>
              <a:rPr lang="zh-CN" altLang="en-US" sz="4800" dirty="0">
                <a:solidFill>
                  <a:schemeClr val="bg1"/>
                </a:solidFill>
                <a:latin typeface="Arial" panose="020B0604020202090204" pitchFamily="34" charset="0"/>
                <a:ea typeface="黑体-简" panose="02000000000000000000" charset="-122"/>
                <a:sym typeface="+mn-ea"/>
              </a:rPr>
              <a:t>软件工程综合实训</a:t>
            </a:r>
            <a:r>
              <a:rPr lang="en-US" altLang="zh-CN" sz="4800" dirty="0">
                <a:solidFill>
                  <a:schemeClr val="bg1"/>
                </a:solidFill>
                <a:latin typeface="Arial" panose="020B0604020202090204" pitchFamily="34" charset="0"/>
                <a:ea typeface="黑体-简" panose="02000000000000000000" charset="-122"/>
                <a:sym typeface="+mn-ea"/>
              </a:rPr>
              <a:t>》</a:t>
            </a:r>
            <a:endParaRPr lang="zh-CN" altLang="en-US" sz="4800" b="1" spc="300" dirty="0">
              <a:solidFill>
                <a:schemeClr val="bg1"/>
              </a:solidFill>
              <a:latin typeface="Arial" panose="020B0604020202090204" pitchFamily="34" charset="0"/>
              <a:ea typeface="黑体-简" panose="02000000000000000000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4800" b="1" spc="300" dirty="0">
                <a:ln w="6350">
                  <a:noFill/>
                </a:ln>
                <a:solidFill>
                  <a:schemeClr val="bg1"/>
                </a:solidFill>
                <a:latin typeface="Arial" panose="020B0604020202090204" pitchFamily="34" charset="0"/>
                <a:ea typeface="黑体-简" panose="02000000000000000000" charset="-122"/>
                <a:sym typeface="+mn-ea"/>
              </a:rPr>
              <a:t>软工资源共享平台</a:t>
            </a:r>
            <a:endParaRPr lang="en-US" altLang="zh-CN" sz="4800" b="1" spc="300" dirty="0">
              <a:ln w="6350">
                <a:noFill/>
              </a:ln>
              <a:solidFill>
                <a:schemeClr val="bg1"/>
              </a:solidFill>
              <a:latin typeface="Arial" panose="020B0604020202090204" pitchFamily="34" charset="0"/>
              <a:ea typeface="黑体-简" panose="02000000000000000000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49533" y="5259359"/>
            <a:ext cx="4608510" cy="870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pc="300" dirty="0">
                <a:latin typeface="Times New Roman" panose="02020503050405090304" charset="0"/>
                <a:ea typeface="黑体-简" panose="02000000000000000000" charset="-122"/>
                <a:sym typeface="+mn-ea"/>
              </a:rPr>
              <a:t>成员：</a:t>
            </a:r>
            <a:r>
              <a:rPr lang="zh-CN" altLang="en-US" dirty="0">
                <a:latin typeface="Times New Roman" panose="02020503050405090304" charset="0"/>
                <a:ea typeface="黑体-简" panose="02000000000000000000" charset="-122"/>
                <a:sym typeface="+mn-ea"/>
              </a:rPr>
              <a:t>万伟杰</a:t>
            </a:r>
            <a:r>
              <a:rPr lang="en-US" altLang="zh-CN" dirty="0">
                <a:latin typeface="Times New Roman" panose="02020503050405090304" charset="0"/>
                <a:ea typeface="黑体-简" panose="02000000000000000000" charset="-122"/>
                <a:sym typeface="+mn-ea"/>
              </a:rPr>
              <a:t>(</a:t>
            </a:r>
            <a:r>
              <a:rPr lang="zh-CN" altLang="en-US" dirty="0">
                <a:latin typeface="Times New Roman" panose="02020503050405090304" charset="0"/>
                <a:ea typeface="黑体-简" panose="02000000000000000000" charset="-122"/>
                <a:sym typeface="+mn-ea"/>
              </a:rPr>
              <a:t>组长</a:t>
            </a:r>
            <a:r>
              <a:rPr lang="en-US" altLang="zh-CN" dirty="0">
                <a:latin typeface="Times New Roman" panose="02020503050405090304" charset="0"/>
                <a:ea typeface="黑体-简" panose="02000000000000000000" charset="-122"/>
                <a:sym typeface="+mn-ea"/>
              </a:rPr>
              <a:t>)</a:t>
            </a:r>
            <a:r>
              <a:rPr lang="zh-CN" altLang="en-US" dirty="0">
                <a:latin typeface="Times New Roman" panose="02020503050405090304" charset="0"/>
                <a:ea typeface="黑体-简" panose="02000000000000000000" charset="-122"/>
                <a:sym typeface="+mn-ea"/>
              </a:rPr>
              <a:t>、蔡沛良</a:t>
            </a:r>
            <a:r>
              <a:rPr lang="en-US" altLang="zh-CN" dirty="0">
                <a:latin typeface="Times New Roman" panose="02020503050405090304" charset="0"/>
                <a:ea typeface="黑体-简" panose="02000000000000000000" charset="-122"/>
                <a:sym typeface="+mn-ea"/>
              </a:rPr>
              <a:t>、</a:t>
            </a:r>
            <a:r>
              <a:rPr lang="zh-CN" altLang="en-US" dirty="0">
                <a:latin typeface="Times New Roman" panose="02020503050405090304" charset="0"/>
                <a:ea typeface="黑体-简" panose="02000000000000000000" charset="-122"/>
                <a:sym typeface="+mn-ea"/>
              </a:rPr>
              <a:t>杨凯宇</a:t>
            </a:r>
            <a:endParaRPr lang="en-US" altLang="zh-CN" dirty="0">
              <a:latin typeface="Times New Roman" panose="02020503050405090304" charset="0"/>
              <a:ea typeface="黑体-简" panose="02000000000000000000" charset="-122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zh-CN" dirty="0">
                <a:latin typeface="Times New Roman" panose="02020503050405090304" charset="0"/>
                <a:ea typeface="黑体-简" panose="02000000000000000000" charset="-122"/>
                <a:sym typeface="+mn-ea"/>
              </a:rPr>
              <a:t>	</a:t>
            </a:r>
            <a:r>
              <a:rPr lang="zh-CN" altLang="en-US" dirty="0">
                <a:latin typeface="Times New Roman" panose="02020503050405090304" charset="0"/>
                <a:ea typeface="黑体-简" panose="02000000000000000000" charset="-122"/>
                <a:sym typeface="+mn-ea"/>
              </a:rPr>
              <a:t>龚虹宇、高颖轩、唐云鹏</a:t>
            </a:r>
            <a:endParaRPr lang="zh-CN" altLang="en-US" dirty="0">
              <a:solidFill>
                <a:schemeClr val="tx1"/>
              </a:solidFill>
              <a:latin typeface="Times New Roman" panose="02020503050405090304" charset="0"/>
              <a:ea typeface="黑体-简" panose="020000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66"/>
    </mc:Choice>
    <mc:Fallback xmlns="">
      <p:transition advTm="206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AD425F-491D-4AEE-B65C-3B07EACB6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9947EA-88E2-497B-8D73-3D1205C66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2</a:t>
            </a:fld>
            <a:endParaRPr kumimoji="1"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4779464-362A-49A6-B418-7DFAA60C5D3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46709" y="1753477"/>
            <a:ext cx="4354455" cy="3351046"/>
          </a:xfrm>
        </p:spPr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、项目背景与定位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、项目代码说明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、项目功能介绍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、工程化实践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、智能化能力</a:t>
            </a:r>
            <a:endParaRPr lang="en-US" altLang="zh-CN" dirty="0"/>
          </a:p>
          <a:p>
            <a:r>
              <a:rPr lang="en-US" altLang="zh-CN" dirty="0"/>
              <a:t>6</a:t>
            </a:r>
            <a:r>
              <a:rPr lang="zh-CN" altLang="en-US" dirty="0"/>
              <a:t>、项目演示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91815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Arial" panose="020B0604020202090204" pitchFamily="34" charset="0"/>
                <a:ea typeface="黑体-简" panose="02000000000000000000" charset="-122"/>
              </a:rPr>
              <a:t>1 </a:t>
            </a:r>
            <a:r>
              <a:rPr kumimoji="1" lang="zh-CN" altLang="en-US" dirty="0">
                <a:latin typeface="Arial" panose="020B0604020202090204" pitchFamily="34" charset="0"/>
                <a:ea typeface="黑体-简" panose="02000000000000000000" charset="-122"/>
              </a:rPr>
              <a:t>项目背景与定位</a:t>
            </a:r>
          </a:p>
        </p:txBody>
      </p:sp>
      <p:sp>
        <p:nvSpPr>
          <p:cNvPr id="8" name="内容占位符 10"/>
          <p:cNvSpPr>
            <a:spLocks noGrp="1"/>
          </p:cNvSpPr>
          <p:nvPr/>
        </p:nvSpPr>
        <p:spPr>
          <a:xfrm>
            <a:off x="346710" y="1317625"/>
            <a:ext cx="11195685" cy="2501900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3" name="内容占位符 5"/>
          <p:cNvSpPr>
            <a:spLocks noGrp="1"/>
          </p:cNvSpPr>
          <p:nvPr/>
        </p:nvSpPr>
        <p:spPr>
          <a:xfrm>
            <a:off x="346075" y="1029970"/>
            <a:ext cx="5363845" cy="605790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Times New Roman" panose="02020503050405090304" charset="0"/>
                <a:ea typeface="黑体-简" panose="02000000000000000000" charset="-122"/>
              </a:rPr>
              <a:t>日常问题</a:t>
            </a:r>
          </a:p>
          <a:p>
            <a:pPr marL="0" indent="0">
              <a:buNone/>
            </a:pPr>
            <a:endParaRPr lang="zh-CN" altLang="en-US" dirty="0">
              <a:latin typeface="Times New Roman" panose="02020503050405090304" charset="0"/>
              <a:ea typeface="黑体-简" panose="02000000000000000000" charset="-122"/>
            </a:endParaRPr>
          </a:p>
          <a:p>
            <a:pPr marL="0" indent="0">
              <a:buNone/>
            </a:pPr>
            <a:endParaRPr lang="zh-CN" altLang="en-US" dirty="0">
              <a:latin typeface="Times New Roman" panose="02020503050405090304" charset="0"/>
              <a:ea typeface="黑体-简" panose="02000000000000000000" charset="-122"/>
            </a:endParaRPr>
          </a:p>
        </p:txBody>
      </p:sp>
      <p:sp>
        <p:nvSpPr>
          <p:cNvPr id="6" name="内容占位符 10"/>
          <p:cNvSpPr>
            <a:spLocks noGrp="1"/>
          </p:cNvSpPr>
          <p:nvPr/>
        </p:nvSpPr>
        <p:spPr>
          <a:xfrm>
            <a:off x="346075" y="1636395"/>
            <a:ext cx="5363210" cy="4654550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000" b="1" dirty="0">
                <a:solidFill>
                  <a:schemeClr val="tx1"/>
                </a:solidFill>
                <a:latin typeface="Times New Roman" panose="02020503050405090304" charset="0"/>
                <a:ea typeface="黑体-简" panose="02000000000000000000" charset="-122"/>
              </a:rPr>
              <a:t>对于工具：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503050405090304" charset="0"/>
                <a:ea typeface="黑体-简" panose="02000000000000000000" charset="-122"/>
              </a:rPr>
              <a:t>同学们经常在不经意间发现一些好用的网站 </a:t>
            </a:r>
            <a:r>
              <a:rPr kumimoji="1" lang="en-US" altLang="zh-CN" sz="2000" dirty="0">
                <a:solidFill>
                  <a:schemeClr val="tx1"/>
                </a:solidFill>
                <a:latin typeface="Times New Roman" panose="02020503050405090304" charset="0"/>
                <a:ea typeface="黑体-简" panose="02000000000000000000" charset="-122"/>
              </a:rPr>
              <a:t>/ 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503050405090304" charset="0"/>
                <a:ea typeface="黑体-简" panose="02000000000000000000" charset="-122"/>
              </a:rPr>
              <a:t>工具，这些网站 </a:t>
            </a:r>
            <a:r>
              <a:rPr kumimoji="1" lang="en-US" altLang="zh-CN" sz="2000" dirty="0">
                <a:solidFill>
                  <a:schemeClr val="tx1"/>
                </a:solidFill>
                <a:latin typeface="Times New Roman" panose="02020503050405090304" charset="0"/>
                <a:ea typeface="黑体-简" panose="02000000000000000000" charset="-122"/>
              </a:rPr>
              <a:t>/ 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503050405090304" charset="0"/>
                <a:ea typeface="黑体-简" panose="02000000000000000000" charset="-122"/>
              </a:rPr>
              <a:t>工具也许是大家急需但并不广泛为人所知</a:t>
            </a:r>
            <a:endParaRPr kumimoji="1" lang="en-US" altLang="zh-CN" sz="2000" dirty="0">
              <a:solidFill>
                <a:schemeClr val="tx1"/>
              </a:solidFill>
              <a:latin typeface="Times New Roman" panose="02020503050405090304" charset="0"/>
              <a:ea typeface="黑体-简" panose="02000000000000000000" charset="-122"/>
            </a:endParaRPr>
          </a:p>
          <a:p>
            <a:r>
              <a:rPr kumimoji="1" lang="zh-CN" altLang="en-US" sz="2000" b="1" dirty="0">
                <a:latin typeface="Times New Roman" panose="02020503050405090304" charset="0"/>
                <a:ea typeface="黑体-简" panose="02000000000000000000" charset="-122"/>
              </a:rPr>
              <a:t>对于课程：</a:t>
            </a:r>
            <a:r>
              <a:rPr kumimoji="1" lang="zh-CN" altLang="en-US" sz="2000" dirty="0">
                <a:latin typeface="Times New Roman" panose="02020503050405090304" charset="0"/>
                <a:ea typeface="黑体-简" panose="02000000000000000000" charset="-122"/>
              </a:rPr>
              <a:t>同学们想知道一门选修课的评价如何 </a:t>
            </a:r>
            <a:r>
              <a:rPr kumimoji="1" lang="en-US" altLang="zh-CN" sz="2000" dirty="0">
                <a:latin typeface="Times New Roman" panose="02020503050405090304" charset="0"/>
                <a:ea typeface="黑体-简" panose="02000000000000000000" charset="-122"/>
              </a:rPr>
              <a:t>/ </a:t>
            </a:r>
            <a:r>
              <a:rPr kumimoji="1" lang="zh-CN" altLang="en-US" sz="2000" dirty="0">
                <a:latin typeface="Times New Roman" panose="02020503050405090304" charset="0"/>
                <a:ea typeface="黑体-简" panose="02000000000000000000" charset="-122"/>
              </a:rPr>
              <a:t>老师发在群中的课件经常过期 </a:t>
            </a:r>
            <a:r>
              <a:rPr kumimoji="1" lang="en-US" altLang="zh-CN" sz="2000" dirty="0">
                <a:latin typeface="Times New Roman" panose="02020503050405090304" charset="0"/>
                <a:ea typeface="黑体-简" panose="02000000000000000000" charset="-122"/>
              </a:rPr>
              <a:t>/ </a:t>
            </a:r>
            <a:r>
              <a:rPr kumimoji="1" lang="zh-CN" altLang="en-US" sz="2000" dirty="0">
                <a:latin typeface="Times New Roman" panose="02020503050405090304" charset="0"/>
                <a:ea typeface="黑体-简" panose="02000000000000000000" charset="-122"/>
              </a:rPr>
              <a:t>也许网络中有一些这门课的相关资料分享</a:t>
            </a:r>
            <a:endParaRPr kumimoji="1" lang="en-US" altLang="zh-CN" sz="2000" dirty="0">
              <a:solidFill>
                <a:schemeClr val="tx1"/>
              </a:solidFill>
              <a:latin typeface="Times New Roman" panose="02020503050405090304" charset="0"/>
              <a:ea typeface="黑体-简" panose="02000000000000000000" charset="-122"/>
            </a:endParaRPr>
          </a:p>
          <a:p>
            <a:r>
              <a:rPr kumimoji="1" lang="zh-CN" altLang="en-US" sz="2000" b="1" dirty="0">
                <a:solidFill>
                  <a:schemeClr val="tx1"/>
                </a:solidFill>
                <a:latin typeface="Times New Roman" panose="02020503050405090304" charset="0"/>
                <a:ea typeface="黑体-简" panose="02000000000000000000" charset="-122"/>
              </a:rPr>
              <a:t>对于项目：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503050405090304" charset="0"/>
                <a:ea typeface="黑体-简" panose="02000000000000000000" charset="-122"/>
              </a:rPr>
              <a:t>同学们想将自己做出 </a:t>
            </a:r>
            <a:r>
              <a:rPr kumimoji="1" lang="en-US" altLang="zh-CN" sz="2000" dirty="0">
                <a:solidFill>
                  <a:schemeClr val="tx1"/>
                </a:solidFill>
                <a:latin typeface="Times New Roman" panose="02020503050405090304" charset="0"/>
                <a:ea typeface="黑体-简" panose="02000000000000000000" charset="-122"/>
              </a:rPr>
              <a:t>or 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503050405090304" charset="0"/>
                <a:ea typeface="黑体-简" panose="02000000000000000000" charset="-122"/>
              </a:rPr>
              <a:t>发现的好项目分享出来（比如历届的实训项目）</a:t>
            </a:r>
            <a:endParaRPr kumimoji="1" lang="en-US" altLang="zh-CN" sz="2000" dirty="0">
              <a:solidFill>
                <a:schemeClr val="tx1"/>
              </a:solidFill>
              <a:latin typeface="Times New Roman" panose="02020503050405090304" charset="0"/>
              <a:ea typeface="黑体-简" panose="02000000000000000000" charset="-122"/>
            </a:endParaRPr>
          </a:p>
          <a:p>
            <a:r>
              <a:rPr kumimoji="1" lang="en-US" altLang="zh-CN" sz="2000" dirty="0">
                <a:latin typeface="Times New Roman" panose="02020503050405090304" charset="0"/>
                <a:ea typeface="黑体-简" panose="02000000000000000000" charset="-122"/>
              </a:rPr>
              <a:t>……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7E24128-6866-4B7A-B851-A24E2237B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395" y="1368060"/>
            <a:ext cx="5507372" cy="361357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A6D4599-80A2-46A2-A448-BE10CAE6D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803" y="3954171"/>
            <a:ext cx="5069268" cy="25018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Arial" panose="020B0604020202090204" pitchFamily="34" charset="0"/>
                <a:ea typeface="黑体-简" panose="02000000000000000000" charset="-122"/>
              </a:rPr>
              <a:t>1 </a:t>
            </a:r>
            <a:r>
              <a:rPr kumimoji="1" lang="zh-CN" altLang="en-US" dirty="0">
                <a:latin typeface="Arial" panose="020B0604020202090204" pitchFamily="34" charset="0"/>
                <a:ea typeface="黑体-简" panose="02000000000000000000" charset="-122"/>
              </a:rPr>
              <a:t>项目背景与定位</a:t>
            </a:r>
          </a:p>
        </p:txBody>
      </p:sp>
      <p:sp>
        <p:nvSpPr>
          <p:cNvPr id="8" name="内容占位符 10"/>
          <p:cNvSpPr>
            <a:spLocks noGrp="1"/>
          </p:cNvSpPr>
          <p:nvPr/>
        </p:nvSpPr>
        <p:spPr>
          <a:xfrm>
            <a:off x="346710" y="1317625"/>
            <a:ext cx="11195685" cy="2501900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45" marR="0" lvl="0" indent="-36004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128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内容占位符 5"/>
          <p:cNvSpPr>
            <a:spLocks noGrp="1"/>
          </p:cNvSpPr>
          <p:nvPr/>
        </p:nvSpPr>
        <p:spPr>
          <a:xfrm>
            <a:off x="346075" y="1029970"/>
            <a:ext cx="5363845" cy="605790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45" marR="0" lvl="0" indent="-36004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128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lang="zh-CN" altLang="en-US" dirty="0">
                <a:solidFill>
                  <a:prstClr val="black"/>
                </a:solidFill>
                <a:latin typeface="Times New Roman" panose="02020503050405090304" charset="0"/>
                <a:ea typeface="黑体-简" panose="02000000000000000000" charset="-122"/>
              </a:rPr>
              <a:t>已有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黑体-简" panose="02000000000000000000" charset="-122"/>
                <a:cs typeface="+mn-cs"/>
              </a:rPr>
              <a:t>工具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128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charset="0"/>
              <a:ea typeface="黑体-简" panose="02000000000000000000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128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charset="0"/>
              <a:ea typeface="黑体-简" panose="02000000000000000000" charset="-122"/>
              <a:cs typeface="+mn-cs"/>
            </a:endParaRPr>
          </a:p>
        </p:txBody>
      </p:sp>
      <p:sp>
        <p:nvSpPr>
          <p:cNvPr id="6" name="内容占位符 10"/>
          <p:cNvSpPr>
            <a:spLocks noGrp="1"/>
          </p:cNvSpPr>
          <p:nvPr/>
        </p:nvSpPr>
        <p:spPr>
          <a:xfrm>
            <a:off x="346075" y="1636395"/>
            <a:ext cx="5363210" cy="4654550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128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黑体-简" panose="02000000000000000000" charset="-122"/>
                <a:cs typeface="+mn-cs"/>
              </a:rPr>
              <a:t>软工集市满足了学院日常交流的需求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黑体-简" panose="02000000000000000000" charset="-122"/>
                <a:cs typeface="+mn-cs"/>
              </a:rPr>
              <a:t>，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黑体-简" panose="02000000000000000000" charset="-122"/>
                <a:cs typeface="+mn-cs"/>
              </a:rPr>
              <a:t>但论坛模式存在一些局限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黑体-简" panose="02000000000000000000" charset="-122"/>
                <a:cs typeface="+mn-cs"/>
              </a:rPr>
              <a:t>：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charset="0"/>
              <a:ea typeface="黑体-简" panose="02000000000000000000" charset="-122"/>
              <a:cs typeface="+mn-cs"/>
            </a:endParaRPr>
          </a:p>
          <a:p>
            <a:pPr marL="360045" marR="0" lvl="0" indent="-36004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128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黑体-简" panose="02000000000000000000" charset="-122"/>
                <a:cs typeface="+mn-cs"/>
              </a:rPr>
              <a:t>时效性导向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黑体-简" panose="02000000000000000000" charset="-122"/>
                <a:cs typeface="+mn-cs"/>
              </a:rPr>
              <a:t>：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黑体-简" panose="02000000000000000000" charset="-122"/>
                <a:cs typeface="+mn-cs"/>
              </a:rPr>
              <a:t>“新鲜”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黑体-简" panose="02000000000000000000" charset="-122"/>
                <a:cs typeface="+mn-cs"/>
              </a:rPr>
              <a:t>、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黑体-简" panose="02000000000000000000" charset="-122"/>
                <a:cs typeface="+mn-cs"/>
              </a:rPr>
              <a:t>“热度”优先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黑体-简" panose="02000000000000000000" charset="-122"/>
                <a:cs typeface="+mn-cs"/>
              </a:rPr>
              <a:t>，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黑体-简" panose="02000000000000000000" charset="-122"/>
                <a:cs typeface="+mn-cs"/>
              </a:rPr>
              <a:t>内容被新帖淹没</a:t>
            </a:r>
          </a:p>
          <a:p>
            <a:pPr marL="360045" marR="0" lvl="0" indent="-36004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128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黑体-简" panose="02000000000000000000" charset="-122"/>
                <a:cs typeface="+mn-cs"/>
              </a:rPr>
              <a:t>发帖式模式：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黑体-简" panose="02000000000000000000" charset="-122"/>
                <a:cs typeface="+mn-cs"/>
              </a:rPr>
              <a:t>技术知识需要长期留存和持续维护，而非一次性消费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charset="0"/>
              <a:ea typeface="黑体-简" panose="02000000000000000000" charset="-122"/>
              <a:cs typeface="+mn-cs"/>
            </a:endParaRPr>
          </a:p>
          <a:p>
            <a:pPr marL="360045" marR="0" lvl="0" indent="-360045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128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000" b="1" dirty="0">
                <a:solidFill>
                  <a:prstClr val="black"/>
                </a:solidFill>
                <a:latin typeface="Times New Roman" panose="02020503050405090304" charset="0"/>
                <a:ea typeface="黑体-简" panose="02000000000000000000" charset="-122"/>
              </a:rPr>
              <a:t>资源的分散：</a:t>
            </a:r>
            <a:r>
              <a:rPr kumimoji="1" lang="zh-CN" altLang="en-US" sz="2000" dirty="0">
                <a:solidFill>
                  <a:prstClr val="black"/>
                </a:solidFill>
                <a:latin typeface="Times New Roman" panose="02020503050405090304" charset="0"/>
                <a:ea typeface="黑体-简" panose="02000000000000000000" charset="-122"/>
              </a:rPr>
              <a:t>有些资源大家觉得没有必要发在集市中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charset="0"/>
              <a:ea typeface="黑体-简" panose="02000000000000000000" charset="-122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l="15856" t="6372"/>
          <a:stretch>
            <a:fillRect/>
          </a:stretch>
        </p:blipFill>
        <p:spPr>
          <a:xfrm>
            <a:off x="6918325" y="1332865"/>
            <a:ext cx="5273675" cy="32842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338" y="3819525"/>
            <a:ext cx="4926476" cy="272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519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Arial" panose="020B0604020202090204" pitchFamily="34" charset="0"/>
                <a:ea typeface="黑体-简" panose="02000000000000000000" charset="-122"/>
              </a:rPr>
              <a:t>1 </a:t>
            </a:r>
            <a:r>
              <a:rPr kumimoji="1" lang="zh-CN" altLang="en-US" dirty="0">
                <a:latin typeface="Arial" panose="020B0604020202090204" pitchFamily="34" charset="0"/>
                <a:ea typeface="黑体-简" panose="02000000000000000000" charset="-122"/>
              </a:rPr>
              <a:t>项目背景与定位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5</a:t>
            </a:fld>
            <a:endParaRPr kumimoji="1" lang="zh-CN" altLang="en-US" dirty="0"/>
          </a:p>
        </p:txBody>
      </p:sp>
      <p:sp>
        <p:nvSpPr>
          <p:cNvPr id="8" name="内容占位符 10"/>
          <p:cNvSpPr>
            <a:spLocks noGrp="1"/>
          </p:cNvSpPr>
          <p:nvPr/>
        </p:nvSpPr>
        <p:spPr>
          <a:xfrm>
            <a:off x="695325" y="3163570"/>
            <a:ext cx="11195685" cy="2501900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3" name="内容占位符 5"/>
          <p:cNvSpPr>
            <a:spLocks noGrp="1"/>
          </p:cNvSpPr>
          <p:nvPr/>
        </p:nvSpPr>
        <p:spPr>
          <a:xfrm>
            <a:off x="346075" y="1029970"/>
            <a:ext cx="5363845" cy="605790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latin typeface="Times New Roman" panose="02020503050405090304" charset="0"/>
                <a:ea typeface="黑体-简" panose="02000000000000000000" charset="-122"/>
              </a:rPr>
              <a:t>项目定位</a:t>
            </a:r>
          </a:p>
        </p:txBody>
      </p:sp>
      <p:sp>
        <p:nvSpPr>
          <p:cNvPr id="11" name="内容占位符 10"/>
          <p:cNvSpPr>
            <a:spLocks noGrp="1"/>
          </p:cNvSpPr>
          <p:nvPr/>
        </p:nvSpPr>
        <p:spPr>
          <a:xfrm>
            <a:off x="346075" y="1636395"/>
            <a:ext cx="11599545" cy="4654550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000" b="1" dirty="0">
                <a:solidFill>
                  <a:schemeClr val="tx1"/>
                </a:solidFill>
                <a:latin typeface="Times New Roman" panose="02020503050405090304" charset="0"/>
                <a:ea typeface="黑体-简" panose="02000000000000000000" charset="-122"/>
              </a:rPr>
              <a:t>软工资源共享平台 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503050405090304" charset="0"/>
                <a:ea typeface="黑体-简" panose="02000000000000000000" charset="-122"/>
              </a:rPr>
              <a:t>聚焦于分享与记录 好用工具 </a:t>
            </a:r>
            <a:r>
              <a:rPr kumimoji="1" lang="en-US" altLang="zh-CN" sz="2000" dirty="0">
                <a:solidFill>
                  <a:schemeClr val="tx1"/>
                </a:solidFill>
                <a:latin typeface="Times New Roman" panose="02020503050405090304" charset="0"/>
                <a:ea typeface="黑体-简" panose="02000000000000000000" charset="-122"/>
              </a:rPr>
              <a:t>/ 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503050405090304" charset="0"/>
                <a:ea typeface="黑体-简" panose="02000000000000000000" charset="-122"/>
              </a:rPr>
              <a:t>课程资料 </a:t>
            </a:r>
            <a:r>
              <a:rPr kumimoji="1" lang="en-US" altLang="zh-CN" sz="2000" dirty="0">
                <a:solidFill>
                  <a:schemeClr val="tx1"/>
                </a:solidFill>
                <a:latin typeface="Times New Roman" panose="02020503050405090304" charset="0"/>
                <a:ea typeface="黑体-简" panose="02000000000000000000" charset="-122"/>
              </a:rPr>
              <a:t>/ 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503050405090304" charset="0"/>
                <a:ea typeface="黑体-简" panose="02000000000000000000" charset="-122"/>
              </a:rPr>
              <a:t>项目分享 等各种各样应该被沉淀下来的信息，服务于学院的所有师生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E433333-2F8B-409F-84AB-3FC425874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597" y="2573979"/>
            <a:ext cx="7126805" cy="39475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6710" y="0"/>
            <a:ext cx="10210800" cy="928370"/>
          </a:xfrm>
        </p:spPr>
        <p:txBody>
          <a:bodyPr/>
          <a:lstStyle/>
          <a:p>
            <a:r>
              <a:rPr kumimoji="1" lang="en-US" altLang="zh-CN" dirty="0">
                <a:latin typeface="Arial" panose="020B0604020202090204" pitchFamily="34" charset="0"/>
                <a:ea typeface="黑体-简" panose="02000000000000000000" charset="-122"/>
              </a:rPr>
              <a:t>1 </a:t>
            </a:r>
            <a:r>
              <a:rPr kumimoji="1" lang="zh-CN" altLang="en-US" dirty="0">
                <a:latin typeface="Arial" panose="020B0604020202090204" pitchFamily="34" charset="0"/>
                <a:ea typeface="黑体-简" panose="02000000000000000000" charset="-122"/>
              </a:rPr>
              <a:t>项目背景与定位</a:t>
            </a: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3048526"/>
              </p:ext>
            </p:extLst>
          </p:nvPr>
        </p:nvGraphicFramePr>
        <p:xfrm>
          <a:off x="822960" y="1474491"/>
          <a:ext cx="10546080" cy="5258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2614">
                  <a:extLst>
                    <a:ext uri="{9D8B030D-6E8A-4147-A177-3AD203B41FA5}">
                      <a16:colId xmlns:a16="http://schemas.microsoft.com/office/drawing/2014/main" val="2665883751"/>
                    </a:ext>
                  </a:extLst>
                </a:gridCol>
              </a:tblGrid>
              <a:tr h="92831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US" sz="1800" spc="130">
                          <a:latin typeface="Times New Roman" panose="02020503050405090304" charset="0"/>
                          <a:ea typeface="黑体-简" panose="02000000000000000000" charset="-122"/>
                        </a:rPr>
                        <a:t>成员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en-US" altLang="en-US" sz="1800" spc="130" dirty="0" err="1">
                          <a:latin typeface="Times New Roman" panose="02020503050405090304" charset="0"/>
                          <a:ea typeface="黑体-简" panose="02000000000000000000" charset="-122"/>
                        </a:rPr>
                        <a:t>分工</a:t>
                      </a:r>
                      <a:endParaRPr lang="en-US" altLang="en-US" sz="1800" spc="130" dirty="0">
                        <a:latin typeface="Times New Roman" panose="02020503050405090304" charset="0"/>
                        <a:ea typeface="黑体-简" panose="02000000000000000000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800" spc="130" dirty="0">
                          <a:latin typeface="Times New Roman" panose="02020503050405090304" charset="0"/>
                          <a:ea typeface="黑体-简" panose="02000000000000000000" charset="-122"/>
                        </a:rPr>
                        <a:t>工作</a:t>
                      </a:r>
                      <a:endParaRPr lang="en-US" altLang="en-US" sz="1800" spc="130" dirty="0">
                        <a:latin typeface="Times New Roman" panose="02020503050405090304" charset="0"/>
                        <a:ea typeface="黑体-简" panose="02000000000000000000" charset="-122"/>
                      </a:endParaRP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916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spc="130" dirty="0">
                          <a:latin typeface="Times New Roman" panose="02020503050405090304" charset="0"/>
                          <a:ea typeface="黑体-简" panose="02000000000000000000" charset="-122"/>
                        </a:rPr>
                        <a:t>万伟杰</a:t>
                      </a:r>
                      <a:endParaRPr lang="en-US" altLang="en-US" sz="1800" spc="130" dirty="0">
                        <a:latin typeface="Times New Roman" panose="02020503050405090304" charset="0"/>
                        <a:ea typeface="黑体-简" panose="02000000000000000000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800" spc="130" dirty="0">
                          <a:latin typeface="Times New Roman" panose="02020503050405090304" charset="0"/>
                          <a:ea typeface="黑体-简" panose="02000000000000000000" charset="-122"/>
                        </a:rPr>
                        <a:t>前后端连接</a:t>
                      </a:r>
                      <a:endParaRPr lang="en-US" altLang="en-US" sz="1800" spc="130" dirty="0">
                        <a:latin typeface="Times New Roman" panose="02020503050405090304" charset="0"/>
                        <a:ea typeface="黑体-简" panose="02000000000000000000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800" spc="130" dirty="0">
                          <a:latin typeface="Times New Roman" panose="02020503050405090304" charset="0"/>
                          <a:ea typeface="黑体-简" panose="02000000000000000000" charset="-122"/>
                        </a:rPr>
                        <a:t>前后端接口设计与对接，</a:t>
                      </a:r>
                      <a:r>
                        <a:rPr lang="en-US" altLang="zh-CN" sz="1800" spc="130" dirty="0">
                          <a:latin typeface="Times New Roman" panose="02020503050405090304" charset="0"/>
                          <a:ea typeface="黑体-简" panose="02000000000000000000" charset="-122"/>
                        </a:rPr>
                        <a:t>PY</a:t>
                      </a:r>
                      <a:r>
                        <a:rPr lang="zh-CN" altLang="en-US" sz="1800" spc="130" dirty="0">
                          <a:latin typeface="Times New Roman" panose="02020503050405090304" charset="0"/>
                          <a:ea typeface="黑体-简" panose="02000000000000000000" charset="-122"/>
                        </a:rPr>
                        <a:t>代码生成脚本与</a:t>
                      </a:r>
                      <a:r>
                        <a:rPr lang="en-US" altLang="zh-CN" sz="1800" spc="130" dirty="0">
                          <a:latin typeface="Times New Roman" panose="02020503050405090304" charset="0"/>
                          <a:ea typeface="黑体-简" panose="02000000000000000000" charset="-122"/>
                        </a:rPr>
                        <a:t>Swagger</a:t>
                      </a:r>
                      <a:r>
                        <a:rPr lang="zh-CN" altLang="en-US" sz="1800" spc="130" dirty="0">
                          <a:latin typeface="Times New Roman" panose="02020503050405090304" charset="0"/>
                          <a:ea typeface="黑体-简" panose="02000000000000000000" charset="-122"/>
                        </a:rPr>
                        <a:t>文档生成，</a:t>
                      </a:r>
                      <a:r>
                        <a:rPr lang="en-US" altLang="zh-CN" sz="1800" spc="130" dirty="0">
                          <a:latin typeface="Times New Roman" panose="02020503050405090304" charset="0"/>
                          <a:ea typeface="黑体-简" panose="02000000000000000000" charset="-122"/>
                        </a:rPr>
                        <a:t>RAG</a:t>
                      </a:r>
                      <a:r>
                        <a:rPr lang="zh-CN" altLang="en-US" sz="1800" spc="130" dirty="0">
                          <a:latin typeface="Times New Roman" panose="02020503050405090304" charset="0"/>
                          <a:ea typeface="黑体-简" panose="02000000000000000000" charset="-122"/>
                        </a:rPr>
                        <a:t>智能体设计</a:t>
                      </a:r>
                      <a:endParaRPr lang="en-US" altLang="en-US" sz="1800" spc="130" dirty="0">
                        <a:latin typeface="Times New Roman" panose="02020503050405090304" charset="0"/>
                        <a:ea typeface="黑体-简" panose="02000000000000000000" charset="-122"/>
                      </a:endParaRP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362443485"/>
                  </a:ext>
                </a:extLst>
              </a:tr>
              <a:tr h="619916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spc="130" dirty="0">
                          <a:latin typeface="Times New Roman" panose="02020503050405090304" charset="0"/>
                          <a:ea typeface="黑体-简" panose="02000000000000000000" charset="-122"/>
                        </a:rPr>
                        <a:t>杨凯宇</a:t>
                      </a:r>
                      <a:endParaRPr lang="en-US" altLang="en-US" sz="1800" spc="130" dirty="0">
                        <a:latin typeface="Times New Roman" panose="02020503050405090304" charset="0"/>
                        <a:ea typeface="黑体-简" panose="02000000000000000000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800" spc="130" dirty="0">
                          <a:latin typeface="Times New Roman" panose="02020503050405090304" charset="0"/>
                          <a:ea typeface="黑体-简" panose="02000000000000000000" charset="-122"/>
                        </a:rPr>
                        <a:t>前端</a:t>
                      </a:r>
                      <a:endParaRPr lang="en-US" altLang="en-US" sz="1800" spc="130" dirty="0">
                        <a:latin typeface="Times New Roman" panose="02020503050405090304" charset="0"/>
                        <a:ea typeface="黑体-简" panose="02000000000000000000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800" spc="130" dirty="0">
                          <a:latin typeface="Times New Roman" panose="02020503050405090304" charset="0"/>
                          <a:ea typeface="黑体-简" panose="02000000000000000000" charset="-122"/>
                        </a:rPr>
                        <a:t>登录、主页界面实现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黑体-简" panose="02000000000000000000"/>
                          <a:cs typeface="+mn-cs"/>
                        </a:rPr>
                        <a:t>包括列表展示、详情页单等</a:t>
                      </a:r>
                      <a:endParaRPr lang="en-US" altLang="en-US" sz="1800" spc="130" dirty="0">
                        <a:latin typeface="Times New Roman" panose="02020503050405090304" charset="0"/>
                        <a:ea typeface="黑体-简" panose="02000000000000000000"/>
                      </a:endParaRP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2211048760"/>
                  </a:ext>
                </a:extLst>
              </a:tr>
              <a:tr h="619916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spc="130" dirty="0">
                          <a:latin typeface="Times New Roman" panose="02020503050405090304" charset="0"/>
                          <a:ea typeface="黑体-简" panose="02000000000000000000" charset="-122"/>
                        </a:rPr>
                        <a:t>蔡沛良</a:t>
                      </a:r>
                      <a:endParaRPr lang="en-US" altLang="en-US" sz="1800" spc="130" dirty="0">
                        <a:latin typeface="Times New Roman" panose="02020503050405090304" charset="0"/>
                        <a:ea typeface="黑体-简" panose="02000000000000000000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800" spc="130" dirty="0">
                          <a:latin typeface="Times New Roman" panose="02020503050405090304" charset="0"/>
                          <a:ea typeface="黑体-简" panose="02000000000000000000" charset="-122"/>
                        </a:rPr>
                        <a:t>前端</a:t>
                      </a:r>
                      <a:endParaRPr lang="en-US" altLang="en-US" sz="1800" spc="130" dirty="0">
                        <a:latin typeface="Times New Roman" panose="02020503050405090304" charset="0"/>
                        <a:ea typeface="黑体-简" panose="02000000000000000000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800" spc="130" dirty="0">
                          <a:latin typeface="Times New Roman" panose="02020503050405090304" charset="0"/>
                          <a:ea typeface="黑体-简" panose="02000000000000000000" charset="-122"/>
                        </a:rPr>
                        <a:t>项目与管理员审核界面、运营页面实现</a:t>
                      </a:r>
                      <a:endParaRPr lang="en-US" altLang="en-US" sz="1800" spc="130" dirty="0">
                        <a:latin typeface="Times New Roman" panose="02020503050405090304" charset="0"/>
                        <a:ea typeface="黑体-简" panose="02000000000000000000" charset="-122"/>
                      </a:endParaRP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2590007911"/>
                  </a:ext>
                </a:extLst>
              </a:tr>
              <a:tr h="680441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800" b="0" dirty="0">
                          <a:latin typeface="Times New Roman" panose="02020503050405090304" charset="0"/>
                          <a:ea typeface="黑体-简" panose="02000000000000000000" charset="-122"/>
                        </a:rPr>
                        <a:t>唐云鹏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600" dirty="0">
                          <a:latin typeface="Times New Roman" panose="02020503050405090304" charset="0"/>
                          <a:ea typeface="黑体-简" panose="02000000000000000000" charset="-122"/>
                        </a:rPr>
                        <a:t>前端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600" dirty="0">
                          <a:latin typeface="Times New Roman" panose="02020503050405090304" charset="0"/>
                          <a:ea typeface="黑体-简" panose="02000000000000000000" charset="-122"/>
                        </a:rPr>
                        <a:t>课程</a:t>
                      </a:r>
                      <a:r>
                        <a:rPr lang="zh-CN" altLang="en-US" sz="1600" spc="130" dirty="0">
                          <a:latin typeface="Times New Roman" panose="02020503050405090304" charset="0"/>
                          <a:ea typeface="黑体-简" panose="02000000000000000000" charset="-122"/>
                        </a:rPr>
                        <a:t>与个人中心界面实现</a:t>
                      </a:r>
                      <a:endParaRPr lang="zh-CN" altLang="en-US" sz="1600" dirty="0">
                        <a:latin typeface="Times New Roman" panose="02020503050405090304" charset="0"/>
                        <a:ea typeface="黑体-简" panose="02000000000000000000" charset="-122"/>
                      </a:endParaRP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0441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800" b="0" dirty="0">
                          <a:latin typeface="Times New Roman" panose="02020503050405090304" charset="0"/>
                          <a:ea typeface="黑体-简" panose="02000000000000000000" charset="-122"/>
                        </a:rPr>
                        <a:t>龚虹宇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600" dirty="0">
                          <a:latin typeface="Times New Roman" panose="02020503050405090304" charset="0"/>
                          <a:ea typeface="黑体-简" panose="02000000000000000000" charset="-122"/>
                          <a:sym typeface="+mn-ea"/>
                        </a:rPr>
                        <a:t>后端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600" dirty="0">
                          <a:latin typeface="Times New Roman" panose="02020503050405090304" charset="0"/>
                          <a:ea typeface="黑体-简" panose="02000000000000000000" charset="-122"/>
                          <a:sym typeface="+mn-ea"/>
                        </a:rPr>
                        <a:t>管理员审核工作流与数据实时统计、</a:t>
                      </a:r>
                      <a:r>
                        <a:rPr lang="en-US" altLang="zh-CN" sz="1600" dirty="0">
                          <a:latin typeface="Times New Roman" panose="02020503050405090304" charset="0"/>
                          <a:ea typeface="黑体-简" panose="02000000000000000000" charset="-122"/>
                          <a:sym typeface="+mn-ea"/>
                        </a:rPr>
                        <a:t>SVG </a:t>
                      </a:r>
                      <a:r>
                        <a:rPr lang="zh-CN" altLang="en-US" sz="1600" dirty="0">
                          <a:latin typeface="Times New Roman" panose="02020503050405090304" charset="0"/>
                          <a:ea typeface="黑体-简" panose="02000000000000000000" charset="-122"/>
                          <a:sym typeface="+mn-ea"/>
                        </a:rPr>
                        <a:t>默认图标显示功能</a:t>
                      </a: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441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800" b="0" dirty="0">
                          <a:latin typeface="Times New Roman" panose="02020503050405090304" charset="0"/>
                          <a:ea typeface="黑体-简" panose="02000000000000000000" charset="-122"/>
                        </a:rPr>
                        <a:t>高颖轩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600" dirty="0">
                          <a:latin typeface="Times New Roman" panose="02020503050405090304" charset="0"/>
                          <a:ea typeface="黑体-简" panose="02000000000000000000" charset="-122"/>
                        </a:rPr>
                        <a:t>后端</a:t>
                      </a: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黑体-简" panose="02000000000000000000"/>
                          <a:cs typeface="+mn-cs"/>
                        </a:rPr>
                        <a:t>模块的 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黑体-简" panose="02000000000000000000"/>
                          <a:cs typeface="+mn-cs"/>
                        </a:rPr>
                        <a:t>Service 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黑体-简" panose="02000000000000000000"/>
                          <a:cs typeface="+mn-cs"/>
                        </a:rPr>
                        <a:t>层业务逻辑和 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黑体-简" panose="02000000000000000000"/>
                          <a:cs typeface="+mn-cs"/>
                        </a:rPr>
                        <a:t>Repository 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黑体-简" panose="02000000000000000000"/>
                          <a:cs typeface="+mn-cs"/>
                        </a:rPr>
                        <a:t>层数据访问</a:t>
                      </a:r>
                      <a:endParaRPr lang="zh-CN" altLang="en-US" sz="1600" dirty="0">
                        <a:latin typeface="Times New Roman" panose="02020503050405090304" charset="0"/>
                        <a:ea typeface="黑体-简" panose="02000000000000000000"/>
                      </a:endParaRPr>
                    </a:p>
                  </a:txBody>
                  <a:tcPr marL="254000" marR="254000" marT="177800" marB="177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" name="TextBox 45"/>
          <p:cNvSpPr txBox="1"/>
          <p:nvPr/>
        </p:nvSpPr>
        <p:spPr>
          <a:xfrm>
            <a:off x="8693150" y="1951355"/>
            <a:ext cx="2861310" cy="291465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4">
                    <a:lumMod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square" lIns="288000" tIns="0" rIns="288000" bIns="0" rtlCol="0" anchor="ctr" anchorCtr="0">
            <a:normAutofit/>
          </a:bodyPr>
          <a:lstStyle/>
          <a:p>
            <a:pPr algn="ctr"/>
            <a:endParaRPr lang="en-US" altLang="zh-CN" sz="1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5"/>
          <p:cNvSpPr>
            <a:spLocks noGrp="1"/>
          </p:cNvSpPr>
          <p:nvPr/>
        </p:nvSpPr>
        <p:spPr>
          <a:xfrm>
            <a:off x="199390" y="1029970"/>
            <a:ext cx="5363845" cy="605790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latin typeface="Times New Roman" panose="02020503050405090304" charset="0"/>
                <a:ea typeface="黑体-简" panose="02000000000000000000" charset="-122"/>
              </a:rPr>
              <a:t>成员分工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A34E1E-AB57-4303-A1F7-0FF0AE746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Arial" panose="020B0604020202090204" pitchFamily="34" charset="0"/>
                <a:ea typeface="黑体-简" panose="02000000000000000000" charset="-122"/>
              </a:rPr>
              <a:t>2 </a:t>
            </a:r>
            <a:r>
              <a:rPr kumimoji="1" lang="zh-CN" altLang="en-US" dirty="0">
                <a:latin typeface="Arial" panose="020B0604020202090204" pitchFamily="34" charset="0"/>
                <a:ea typeface="黑体-简" panose="02000000000000000000" charset="-122"/>
              </a:rPr>
              <a:t>项目代码说明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E56A94-4BF0-436A-B516-0EDA36F8E86B}"/>
              </a:ext>
            </a:extLst>
          </p:cNvPr>
          <p:cNvSpPr/>
          <p:nvPr/>
        </p:nvSpPr>
        <p:spPr>
          <a:xfrm>
            <a:off x="3255126" y="2134624"/>
            <a:ext cx="8294596" cy="641198"/>
          </a:xfrm>
          <a:prstGeom prst="rect">
            <a:avLst/>
          </a:prstGeom>
          <a:solidFill>
            <a:schemeClr val="bg1"/>
          </a:solidFill>
          <a:ln>
            <a:solidFill>
              <a:srgbClr val="005815"/>
            </a:solidFill>
          </a:ln>
          <a:effectLst>
            <a:outerShdw blurRad="177800" sx="101000" sy="101000" algn="ctr" rotWithShape="0">
              <a:schemeClr val="accent2">
                <a:alpha val="1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爱国进步、诚信质朴、求真创新、为人师表  </a:t>
            </a:r>
          </a:p>
        </p:txBody>
      </p:sp>
      <p:sp>
        <p:nvSpPr>
          <p:cNvPr id="7" name="同侧圆角矩形 18">
            <a:extLst>
              <a:ext uri="{FF2B5EF4-FFF2-40B4-BE49-F238E27FC236}">
                <a16:creationId xmlns:a16="http://schemas.microsoft.com/office/drawing/2014/main" id="{C1E9774B-6698-416B-8D78-01A191604BB2}"/>
              </a:ext>
            </a:extLst>
          </p:cNvPr>
          <p:cNvSpPr/>
          <p:nvPr/>
        </p:nvSpPr>
        <p:spPr>
          <a:xfrm rot="16200000">
            <a:off x="1707749" y="1426399"/>
            <a:ext cx="641197" cy="2057645"/>
          </a:xfrm>
          <a:prstGeom prst="round2SameRect">
            <a:avLst/>
          </a:prstGeom>
          <a:gradFill flip="none" rotWithShape="1">
            <a:gsLst>
              <a:gs pos="100000">
                <a:srgbClr val="005815"/>
              </a:gs>
              <a:gs pos="0">
                <a:srgbClr val="0A8600"/>
              </a:gs>
            </a:gsLst>
            <a:lin ang="7200000" scaled="0"/>
            <a:tileRect/>
          </a:gradFill>
          <a:ln>
            <a:noFill/>
          </a:ln>
          <a:effectLst>
            <a:outerShdw blurRad="279400" sx="101000" sy="101000" algn="ctr" rotWithShape="0">
              <a:schemeClr val="accent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E85D0D6-3BA3-4A1B-91DA-8A0044FC91A0}"/>
              </a:ext>
            </a:extLst>
          </p:cNvPr>
          <p:cNvSpPr txBox="1"/>
          <p:nvPr/>
        </p:nvSpPr>
        <p:spPr>
          <a:xfrm>
            <a:off x="1047242" y="2216956"/>
            <a:ext cx="17258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01</a:t>
            </a:r>
            <a:r>
              <a:rPr kumimoji="1" lang="zh-CN" altLang="en-US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 </a:t>
            </a:r>
            <a:r>
              <a:rPr kumimoji="1" lang="en-US" altLang="zh-CN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/</a:t>
            </a:r>
            <a:r>
              <a:rPr kumimoji="1" lang="zh-CN" altLang="en-US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  </a:t>
            </a:r>
            <a:r>
              <a:rPr kumimoji="1" lang="en-US" altLang="zh-CN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model</a:t>
            </a:r>
            <a:r>
              <a:rPr kumimoji="1" lang="zh-CN" altLang="en-US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8996F1-D359-42B9-A4A1-D9BCC7A0A347}"/>
              </a:ext>
            </a:extLst>
          </p:cNvPr>
          <p:cNvSpPr/>
          <p:nvPr/>
        </p:nvSpPr>
        <p:spPr>
          <a:xfrm>
            <a:off x="3412351" y="2164386"/>
            <a:ext cx="7937255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定义与数据库表对应的结构体，指明结构体与表的映射关系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A907A1-DE97-481D-872F-9165A0658483}"/>
              </a:ext>
            </a:extLst>
          </p:cNvPr>
          <p:cNvSpPr/>
          <p:nvPr/>
        </p:nvSpPr>
        <p:spPr>
          <a:xfrm>
            <a:off x="3255126" y="2959083"/>
            <a:ext cx="8294596" cy="641198"/>
          </a:xfrm>
          <a:prstGeom prst="rect">
            <a:avLst/>
          </a:prstGeom>
          <a:solidFill>
            <a:schemeClr val="bg1"/>
          </a:solidFill>
          <a:ln>
            <a:solidFill>
              <a:srgbClr val="005815"/>
            </a:solidFill>
          </a:ln>
          <a:effectLst>
            <a:outerShdw blurRad="177800" sx="101000" sy="101000" algn="ctr" rotWithShape="0">
              <a:schemeClr val="accent2">
                <a:alpha val="1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爱国进步、诚信质朴、求真创新、为人师表  </a:t>
            </a:r>
          </a:p>
        </p:txBody>
      </p:sp>
      <p:sp>
        <p:nvSpPr>
          <p:cNvPr id="11" name="同侧圆角矩形 18">
            <a:extLst>
              <a:ext uri="{FF2B5EF4-FFF2-40B4-BE49-F238E27FC236}">
                <a16:creationId xmlns:a16="http://schemas.microsoft.com/office/drawing/2014/main" id="{A0592830-452D-4E08-80B7-85BB1B226BBF}"/>
              </a:ext>
            </a:extLst>
          </p:cNvPr>
          <p:cNvSpPr/>
          <p:nvPr/>
        </p:nvSpPr>
        <p:spPr>
          <a:xfrm rot="16200000">
            <a:off x="1707749" y="2250858"/>
            <a:ext cx="641197" cy="2057645"/>
          </a:xfrm>
          <a:prstGeom prst="round2SameRect">
            <a:avLst/>
          </a:prstGeom>
          <a:gradFill flip="none" rotWithShape="1">
            <a:gsLst>
              <a:gs pos="100000">
                <a:srgbClr val="005815"/>
              </a:gs>
              <a:gs pos="0">
                <a:srgbClr val="0A8600"/>
              </a:gs>
            </a:gsLst>
            <a:lin ang="7200000" scaled="0"/>
            <a:tileRect/>
          </a:gradFill>
          <a:ln>
            <a:noFill/>
          </a:ln>
          <a:effectLst>
            <a:outerShdw blurRad="279400" sx="101000" sy="101000" algn="ctr" rotWithShape="0">
              <a:schemeClr val="accent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6BFF31B-CC8B-4543-8342-CADE4727DB3E}"/>
              </a:ext>
            </a:extLst>
          </p:cNvPr>
          <p:cNvSpPr txBox="1"/>
          <p:nvPr/>
        </p:nvSpPr>
        <p:spPr>
          <a:xfrm>
            <a:off x="1048828" y="2971904"/>
            <a:ext cx="183283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02</a:t>
            </a:r>
            <a:r>
              <a:rPr kumimoji="1" lang="zh-CN" altLang="en-US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 </a:t>
            </a:r>
            <a:r>
              <a:rPr kumimoji="1" lang="en-US" altLang="zh-CN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/</a:t>
            </a:r>
            <a:r>
              <a:rPr kumimoji="1" lang="zh-CN" altLang="en-US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  </a:t>
            </a:r>
            <a:r>
              <a:rPr kumimoji="1" lang="en-US" altLang="zh-CN" b="1" dirty="0">
                <a:solidFill>
                  <a:schemeClr val="bg1"/>
                </a:solidFill>
                <a:latin typeface="思源宋体CN"/>
                <a:ea typeface="思源宋体 CN" panose="02020400000000000000" pitchFamily="18" charset="-122"/>
              </a:rPr>
              <a:t>Repo</a:t>
            </a:r>
            <a:r>
              <a:rPr kumimoji="1" lang="en-US" altLang="zh-CN" b="1" dirty="0">
                <a:solidFill>
                  <a:schemeClr val="bg1"/>
                </a:solidFill>
                <a:latin typeface="思源宋体"/>
                <a:ea typeface="思源宋体 CN" panose="02020400000000000000" pitchFamily="18" charset="-122"/>
              </a:rPr>
              <a:t>sitory</a:t>
            </a:r>
            <a:r>
              <a:rPr kumimoji="1" lang="zh-CN" altLang="en-US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63D112-4EFF-4A4C-B992-6502A707AB3C}"/>
              </a:ext>
            </a:extLst>
          </p:cNvPr>
          <p:cNvSpPr/>
          <p:nvPr/>
        </p:nvSpPr>
        <p:spPr>
          <a:xfrm>
            <a:off x="3412351" y="2988845"/>
            <a:ext cx="7937255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封装数据库操作，执行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查询，管理数据库连接资源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BAAC748-D219-419F-AEA2-CDE8AF266A41}"/>
              </a:ext>
            </a:extLst>
          </p:cNvPr>
          <p:cNvSpPr/>
          <p:nvPr/>
        </p:nvSpPr>
        <p:spPr>
          <a:xfrm>
            <a:off x="3255126" y="3845763"/>
            <a:ext cx="8294596" cy="641198"/>
          </a:xfrm>
          <a:prstGeom prst="rect">
            <a:avLst/>
          </a:prstGeom>
          <a:solidFill>
            <a:schemeClr val="bg1"/>
          </a:solidFill>
          <a:ln>
            <a:solidFill>
              <a:srgbClr val="005815"/>
            </a:solidFill>
          </a:ln>
          <a:effectLst>
            <a:outerShdw blurRad="177800" sx="101000" sy="101000" algn="ctr" rotWithShape="0">
              <a:schemeClr val="accent2">
                <a:alpha val="1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爱国进步、诚信质朴、求真创新、为人师表  </a:t>
            </a:r>
          </a:p>
        </p:txBody>
      </p:sp>
      <p:sp>
        <p:nvSpPr>
          <p:cNvPr id="15" name="同侧圆角矩形 18">
            <a:extLst>
              <a:ext uri="{FF2B5EF4-FFF2-40B4-BE49-F238E27FC236}">
                <a16:creationId xmlns:a16="http://schemas.microsoft.com/office/drawing/2014/main" id="{949A6622-BFD8-411E-AB72-4D0AEDD901E7}"/>
              </a:ext>
            </a:extLst>
          </p:cNvPr>
          <p:cNvSpPr/>
          <p:nvPr/>
        </p:nvSpPr>
        <p:spPr>
          <a:xfrm rot="16200000">
            <a:off x="1707749" y="3137538"/>
            <a:ext cx="641197" cy="2057645"/>
          </a:xfrm>
          <a:prstGeom prst="round2SameRect">
            <a:avLst/>
          </a:prstGeom>
          <a:gradFill flip="none" rotWithShape="1">
            <a:gsLst>
              <a:gs pos="100000">
                <a:srgbClr val="005815"/>
              </a:gs>
              <a:gs pos="0">
                <a:srgbClr val="0A8600"/>
              </a:gs>
            </a:gsLst>
            <a:lin ang="7200000" scaled="0"/>
            <a:tileRect/>
          </a:gradFill>
          <a:ln>
            <a:noFill/>
          </a:ln>
          <a:effectLst>
            <a:outerShdw blurRad="279400" sx="101000" sy="101000" algn="ctr" rotWithShape="0">
              <a:schemeClr val="accent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5516C34-11AC-42A0-87FA-A68B8635E6E8}"/>
              </a:ext>
            </a:extLst>
          </p:cNvPr>
          <p:cNvSpPr txBox="1"/>
          <p:nvPr/>
        </p:nvSpPr>
        <p:spPr>
          <a:xfrm>
            <a:off x="1047242" y="3899558"/>
            <a:ext cx="18328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03/</a:t>
            </a:r>
            <a:r>
              <a:rPr kumimoji="1" lang="zh-CN" altLang="en-US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  </a:t>
            </a:r>
            <a:r>
              <a:rPr kumimoji="1" lang="en-US" altLang="zh-CN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service</a:t>
            </a:r>
            <a:r>
              <a:rPr kumimoji="1" lang="zh-CN" altLang="en-US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1662D9E-14BA-4D8A-99A8-A18422CC0EB5}"/>
              </a:ext>
            </a:extLst>
          </p:cNvPr>
          <p:cNvSpPr/>
          <p:nvPr/>
        </p:nvSpPr>
        <p:spPr>
          <a:xfrm>
            <a:off x="3412351" y="3875525"/>
            <a:ext cx="7937255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实现业务核心逻辑（用户认证、数据验证、业务规则处理）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DF8F954-3151-44CE-843F-903A9A87386E}"/>
              </a:ext>
            </a:extLst>
          </p:cNvPr>
          <p:cNvSpPr/>
          <p:nvPr/>
        </p:nvSpPr>
        <p:spPr>
          <a:xfrm>
            <a:off x="3255127" y="4725900"/>
            <a:ext cx="8294596" cy="641198"/>
          </a:xfrm>
          <a:prstGeom prst="rect">
            <a:avLst/>
          </a:prstGeom>
          <a:solidFill>
            <a:schemeClr val="bg1"/>
          </a:solidFill>
          <a:ln>
            <a:solidFill>
              <a:srgbClr val="005815"/>
            </a:solidFill>
          </a:ln>
          <a:effectLst>
            <a:outerShdw blurRad="177800" sx="101000" sy="101000" algn="ctr" rotWithShape="0">
              <a:schemeClr val="accent2">
                <a:alpha val="1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爱国进步、诚信质朴、求真创新、为人师表  </a:t>
            </a:r>
          </a:p>
        </p:txBody>
      </p:sp>
      <p:sp>
        <p:nvSpPr>
          <p:cNvPr id="19" name="同侧圆角矩形 18">
            <a:extLst>
              <a:ext uri="{FF2B5EF4-FFF2-40B4-BE49-F238E27FC236}">
                <a16:creationId xmlns:a16="http://schemas.microsoft.com/office/drawing/2014/main" id="{260D42B7-1739-439C-A043-B206D3008CA7}"/>
              </a:ext>
            </a:extLst>
          </p:cNvPr>
          <p:cNvSpPr/>
          <p:nvPr/>
        </p:nvSpPr>
        <p:spPr>
          <a:xfrm rot="16200000">
            <a:off x="1707750" y="4017675"/>
            <a:ext cx="641197" cy="2057645"/>
          </a:xfrm>
          <a:prstGeom prst="round2SameRect">
            <a:avLst/>
          </a:prstGeom>
          <a:gradFill flip="none" rotWithShape="1">
            <a:gsLst>
              <a:gs pos="100000">
                <a:srgbClr val="005815"/>
              </a:gs>
              <a:gs pos="0">
                <a:srgbClr val="0A8600"/>
              </a:gs>
            </a:gsLst>
            <a:lin ang="7200000" scaled="0"/>
            <a:tileRect/>
          </a:gradFill>
          <a:ln>
            <a:noFill/>
          </a:ln>
          <a:effectLst>
            <a:outerShdw blurRad="279400" sx="101000" sy="101000" algn="ctr" rotWithShape="0">
              <a:schemeClr val="accent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C3C6312-5E0C-4677-872A-E2CE6B20D00B}"/>
              </a:ext>
            </a:extLst>
          </p:cNvPr>
          <p:cNvSpPr txBox="1"/>
          <p:nvPr/>
        </p:nvSpPr>
        <p:spPr>
          <a:xfrm>
            <a:off x="999526" y="4755662"/>
            <a:ext cx="20576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04</a:t>
            </a:r>
            <a:r>
              <a:rPr kumimoji="1" lang="zh-CN" altLang="en-US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 </a:t>
            </a:r>
            <a:r>
              <a:rPr kumimoji="1" lang="en-US" altLang="zh-CN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/</a:t>
            </a:r>
            <a:r>
              <a:rPr kumimoji="1" lang="zh-CN" altLang="en-US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  </a:t>
            </a:r>
            <a:r>
              <a:rPr kumimoji="1" lang="en-US" altLang="zh-CN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middleware</a:t>
            </a:r>
            <a:r>
              <a:rPr kumimoji="1" lang="zh-CN" altLang="en-US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A458245-8E31-43FE-AC27-86C501F787DF}"/>
              </a:ext>
            </a:extLst>
          </p:cNvPr>
          <p:cNvSpPr/>
          <p:nvPr/>
        </p:nvSpPr>
        <p:spPr>
          <a:xfrm>
            <a:off x="3412352" y="4755662"/>
            <a:ext cx="7937255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处理请求前后的通用逻辑（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CORS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跨域、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JWT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认证、请求日志、权限验证）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683C766-B46E-4D92-81DE-BFE3056114EB}"/>
              </a:ext>
            </a:extLst>
          </p:cNvPr>
          <p:cNvSpPr/>
          <p:nvPr/>
        </p:nvSpPr>
        <p:spPr>
          <a:xfrm>
            <a:off x="3255127" y="5610795"/>
            <a:ext cx="8294596" cy="641198"/>
          </a:xfrm>
          <a:prstGeom prst="rect">
            <a:avLst/>
          </a:prstGeom>
          <a:solidFill>
            <a:schemeClr val="bg1"/>
          </a:solidFill>
          <a:ln>
            <a:solidFill>
              <a:srgbClr val="005815"/>
            </a:solidFill>
          </a:ln>
          <a:effectLst>
            <a:outerShdw blurRad="177800" sx="101000" sy="101000" algn="ctr" rotWithShape="0">
              <a:schemeClr val="accent2">
                <a:alpha val="1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爱国进步、诚信质朴、求真创新、为人师表  </a:t>
            </a:r>
          </a:p>
        </p:txBody>
      </p:sp>
      <p:sp>
        <p:nvSpPr>
          <p:cNvPr id="23" name="同侧圆角矩形 18">
            <a:extLst>
              <a:ext uri="{FF2B5EF4-FFF2-40B4-BE49-F238E27FC236}">
                <a16:creationId xmlns:a16="http://schemas.microsoft.com/office/drawing/2014/main" id="{B561758C-A4C3-4C31-BBE7-F3640804E3EE}"/>
              </a:ext>
            </a:extLst>
          </p:cNvPr>
          <p:cNvSpPr/>
          <p:nvPr/>
        </p:nvSpPr>
        <p:spPr>
          <a:xfrm rot="16200000">
            <a:off x="1707750" y="4902570"/>
            <a:ext cx="641197" cy="2057645"/>
          </a:xfrm>
          <a:prstGeom prst="round2SameRect">
            <a:avLst/>
          </a:prstGeom>
          <a:gradFill flip="none" rotWithShape="1">
            <a:gsLst>
              <a:gs pos="100000">
                <a:srgbClr val="005815"/>
              </a:gs>
              <a:gs pos="0">
                <a:srgbClr val="0A8600"/>
              </a:gs>
            </a:gsLst>
            <a:lin ang="7200000" scaled="0"/>
            <a:tileRect/>
          </a:gradFill>
          <a:ln>
            <a:noFill/>
          </a:ln>
          <a:effectLst>
            <a:outerShdw blurRad="279400" sx="101000" sy="101000" algn="ctr" rotWithShape="0">
              <a:schemeClr val="accent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5F7B6E9-3156-480C-BC18-CCE5853394EA}"/>
              </a:ext>
            </a:extLst>
          </p:cNvPr>
          <p:cNvSpPr txBox="1"/>
          <p:nvPr/>
        </p:nvSpPr>
        <p:spPr>
          <a:xfrm>
            <a:off x="1048828" y="5696759"/>
            <a:ext cx="17258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05</a:t>
            </a:r>
            <a:r>
              <a:rPr kumimoji="1" lang="zh-CN" altLang="en-US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 </a:t>
            </a:r>
            <a:r>
              <a:rPr kumimoji="1" lang="en-US" altLang="zh-CN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/</a:t>
            </a:r>
            <a:r>
              <a:rPr kumimoji="1" lang="zh-CN" altLang="en-US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  </a:t>
            </a:r>
            <a:r>
              <a:rPr kumimoji="1" lang="en-US" altLang="zh-CN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routes</a:t>
            </a:r>
            <a:r>
              <a:rPr kumimoji="1" lang="zh-CN" altLang="en-US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39DA7E9-64C9-4553-8B68-69D30CBC474C}"/>
              </a:ext>
            </a:extLst>
          </p:cNvPr>
          <p:cNvSpPr/>
          <p:nvPr/>
        </p:nvSpPr>
        <p:spPr>
          <a:xfrm>
            <a:off x="3412352" y="5640557"/>
            <a:ext cx="7937255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请求路径，将不同业务功能的请求绑定到对应的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Handler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167E58E-3E0B-40C8-9EBC-81DBF289EE85}"/>
              </a:ext>
            </a:extLst>
          </p:cNvPr>
          <p:cNvSpPr txBox="1"/>
          <p:nvPr/>
        </p:nvSpPr>
        <p:spPr>
          <a:xfrm>
            <a:off x="469231" y="958446"/>
            <a:ext cx="10210575" cy="136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后端技术栈</a:t>
            </a:r>
            <a:endParaRPr lang="en-US" altLang="zh-CN" b="1" i="0" dirty="0">
              <a:solidFill>
                <a:srgbClr val="666666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Gin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框架高效处理 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 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请求、进行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Gorm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将数据库表映射为 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 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语言中的结构体，方便执行数据库的增删改查等基础操作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251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A34E1E-AB57-4303-A1F7-0FF0AE746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Arial" panose="020B0604020202090204" pitchFamily="34" charset="0"/>
                <a:ea typeface="黑体-简" panose="02000000000000000000" charset="-122"/>
              </a:rPr>
              <a:t>2 </a:t>
            </a:r>
            <a:r>
              <a:rPr kumimoji="1" lang="zh-CN" altLang="en-US" dirty="0">
                <a:latin typeface="Arial" panose="020B0604020202090204" pitchFamily="34" charset="0"/>
                <a:ea typeface="黑体-简" panose="02000000000000000000" charset="-122"/>
              </a:rPr>
              <a:t>项目代码说明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E56A94-4BF0-436A-B516-0EDA36F8E86B}"/>
              </a:ext>
            </a:extLst>
          </p:cNvPr>
          <p:cNvSpPr/>
          <p:nvPr/>
        </p:nvSpPr>
        <p:spPr>
          <a:xfrm>
            <a:off x="3255125" y="1814025"/>
            <a:ext cx="8294596" cy="641198"/>
          </a:xfrm>
          <a:prstGeom prst="rect">
            <a:avLst/>
          </a:prstGeom>
          <a:solidFill>
            <a:schemeClr val="bg1"/>
          </a:solidFill>
          <a:ln>
            <a:solidFill>
              <a:srgbClr val="005815"/>
            </a:solidFill>
          </a:ln>
          <a:effectLst>
            <a:outerShdw blurRad="177800" sx="101000" sy="101000" algn="ctr" rotWithShape="0">
              <a:schemeClr val="accent2">
                <a:alpha val="1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爱国进步、诚信质朴、求真创新、为人师表  </a:t>
            </a:r>
          </a:p>
        </p:txBody>
      </p:sp>
      <p:sp>
        <p:nvSpPr>
          <p:cNvPr id="7" name="同侧圆角矩形 18">
            <a:extLst>
              <a:ext uri="{FF2B5EF4-FFF2-40B4-BE49-F238E27FC236}">
                <a16:creationId xmlns:a16="http://schemas.microsoft.com/office/drawing/2014/main" id="{C1E9774B-6698-416B-8D78-01A191604BB2}"/>
              </a:ext>
            </a:extLst>
          </p:cNvPr>
          <p:cNvSpPr/>
          <p:nvPr/>
        </p:nvSpPr>
        <p:spPr>
          <a:xfrm rot="16200000">
            <a:off x="1707748" y="1105800"/>
            <a:ext cx="641197" cy="2057645"/>
          </a:xfrm>
          <a:prstGeom prst="round2SameRect">
            <a:avLst/>
          </a:prstGeom>
          <a:gradFill flip="none" rotWithShape="1">
            <a:gsLst>
              <a:gs pos="100000">
                <a:srgbClr val="005815"/>
              </a:gs>
              <a:gs pos="0">
                <a:srgbClr val="0A8600"/>
              </a:gs>
            </a:gsLst>
            <a:lin ang="7200000" scaled="0"/>
            <a:tileRect/>
          </a:gradFill>
          <a:ln>
            <a:noFill/>
          </a:ln>
          <a:effectLst>
            <a:outerShdw blurRad="279400" sx="101000" sy="101000" algn="ctr" rotWithShape="0">
              <a:schemeClr val="accent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E85D0D6-3BA3-4A1B-91DA-8A0044FC91A0}"/>
              </a:ext>
            </a:extLst>
          </p:cNvPr>
          <p:cNvSpPr txBox="1"/>
          <p:nvPr/>
        </p:nvSpPr>
        <p:spPr>
          <a:xfrm>
            <a:off x="1047241" y="1896357"/>
            <a:ext cx="17258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01</a:t>
            </a:r>
            <a:r>
              <a:rPr kumimoji="1" lang="zh-CN" altLang="en-US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 </a:t>
            </a:r>
            <a:r>
              <a:rPr kumimoji="1" lang="en-US" altLang="zh-CN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/</a:t>
            </a:r>
            <a:r>
              <a:rPr kumimoji="1" lang="zh-CN" altLang="en-US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  </a:t>
            </a:r>
            <a:r>
              <a:rPr kumimoji="1" lang="en-US" altLang="zh-CN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Utils</a:t>
            </a:r>
            <a:r>
              <a:rPr kumimoji="1" lang="zh-CN" altLang="en-US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8996F1-D359-42B9-A4A1-D9BCC7A0A347}"/>
              </a:ext>
            </a:extLst>
          </p:cNvPr>
          <p:cNvSpPr/>
          <p:nvPr/>
        </p:nvSpPr>
        <p:spPr>
          <a:xfrm>
            <a:off x="3412350" y="1843787"/>
            <a:ext cx="7937255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提供通用的工具函数，比如图片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处理、默认头像生成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A907A1-DE97-481D-872F-9165A0658483}"/>
              </a:ext>
            </a:extLst>
          </p:cNvPr>
          <p:cNvSpPr/>
          <p:nvPr/>
        </p:nvSpPr>
        <p:spPr>
          <a:xfrm>
            <a:off x="3255125" y="2638484"/>
            <a:ext cx="8294596" cy="641198"/>
          </a:xfrm>
          <a:prstGeom prst="rect">
            <a:avLst/>
          </a:prstGeom>
          <a:solidFill>
            <a:schemeClr val="bg1"/>
          </a:solidFill>
          <a:ln>
            <a:solidFill>
              <a:srgbClr val="005815"/>
            </a:solidFill>
          </a:ln>
          <a:effectLst>
            <a:outerShdw blurRad="177800" sx="101000" sy="101000" algn="ctr" rotWithShape="0">
              <a:schemeClr val="accent2">
                <a:alpha val="1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爱国进步、诚信质朴、求真创新、为人师表  </a:t>
            </a:r>
          </a:p>
        </p:txBody>
      </p:sp>
      <p:sp>
        <p:nvSpPr>
          <p:cNvPr id="11" name="同侧圆角矩形 18">
            <a:extLst>
              <a:ext uri="{FF2B5EF4-FFF2-40B4-BE49-F238E27FC236}">
                <a16:creationId xmlns:a16="http://schemas.microsoft.com/office/drawing/2014/main" id="{A0592830-452D-4E08-80B7-85BB1B226BBF}"/>
              </a:ext>
            </a:extLst>
          </p:cNvPr>
          <p:cNvSpPr/>
          <p:nvPr/>
        </p:nvSpPr>
        <p:spPr>
          <a:xfrm rot="16200000">
            <a:off x="1707748" y="1930259"/>
            <a:ext cx="641197" cy="2057645"/>
          </a:xfrm>
          <a:prstGeom prst="round2SameRect">
            <a:avLst/>
          </a:prstGeom>
          <a:gradFill flip="none" rotWithShape="1">
            <a:gsLst>
              <a:gs pos="100000">
                <a:srgbClr val="005815"/>
              </a:gs>
              <a:gs pos="0">
                <a:srgbClr val="0A8600"/>
              </a:gs>
            </a:gsLst>
            <a:lin ang="7200000" scaled="0"/>
            <a:tileRect/>
          </a:gradFill>
          <a:ln>
            <a:noFill/>
          </a:ln>
          <a:effectLst>
            <a:outerShdw blurRad="279400" sx="101000" sy="101000" algn="ctr" rotWithShape="0">
              <a:schemeClr val="accent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6BFF31B-CC8B-4543-8342-CADE4727DB3E}"/>
              </a:ext>
            </a:extLst>
          </p:cNvPr>
          <p:cNvSpPr txBox="1"/>
          <p:nvPr/>
        </p:nvSpPr>
        <p:spPr>
          <a:xfrm>
            <a:off x="1047241" y="2726196"/>
            <a:ext cx="17258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02</a:t>
            </a:r>
            <a:r>
              <a:rPr kumimoji="1" lang="zh-CN" altLang="en-US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 </a:t>
            </a:r>
            <a:r>
              <a:rPr kumimoji="1" lang="en-US" altLang="zh-CN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/</a:t>
            </a:r>
            <a:r>
              <a:rPr kumimoji="1" lang="zh-CN" altLang="en-US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  </a:t>
            </a:r>
            <a:r>
              <a:rPr kumimoji="1" lang="en-US" altLang="zh-CN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Store</a:t>
            </a:r>
            <a:r>
              <a:rPr kumimoji="1" lang="zh-CN" altLang="en-US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63D112-4EFF-4A4C-B992-6502A707AB3C}"/>
              </a:ext>
            </a:extLst>
          </p:cNvPr>
          <p:cNvSpPr/>
          <p:nvPr/>
        </p:nvSpPr>
        <p:spPr>
          <a:xfrm>
            <a:off x="3412350" y="2668246"/>
            <a:ext cx="7937255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管理全局状态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BAAC748-D219-419F-AEA2-CDE8AF266A41}"/>
              </a:ext>
            </a:extLst>
          </p:cNvPr>
          <p:cNvSpPr/>
          <p:nvPr/>
        </p:nvSpPr>
        <p:spPr>
          <a:xfrm>
            <a:off x="3255125" y="3525164"/>
            <a:ext cx="8294596" cy="641198"/>
          </a:xfrm>
          <a:prstGeom prst="rect">
            <a:avLst/>
          </a:prstGeom>
          <a:solidFill>
            <a:schemeClr val="bg1"/>
          </a:solidFill>
          <a:ln>
            <a:solidFill>
              <a:srgbClr val="005815"/>
            </a:solidFill>
          </a:ln>
          <a:effectLst>
            <a:outerShdw blurRad="177800" sx="101000" sy="101000" algn="ctr" rotWithShape="0">
              <a:schemeClr val="accent2">
                <a:alpha val="1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爱国进步、诚信质朴、求真创新、为人师表  </a:t>
            </a:r>
          </a:p>
        </p:txBody>
      </p:sp>
      <p:sp>
        <p:nvSpPr>
          <p:cNvPr id="15" name="同侧圆角矩形 18">
            <a:extLst>
              <a:ext uri="{FF2B5EF4-FFF2-40B4-BE49-F238E27FC236}">
                <a16:creationId xmlns:a16="http://schemas.microsoft.com/office/drawing/2014/main" id="{949A6622-BFD8-411E-AB72-4D0AEDD901E7}"/>
              </a:ext>
            </a:extLst>
          </p:cNvPr>
          <p:cNvSpPr/>
          <p:nvPr/>
        </p:nvSpPr>
        <p:spPr>
          <a:xfrm rot="16200000">
            <a:off x="1707748" y="2816939"/>
            <a:ext cx="641197" cy="2057645"/>
          </a:xfrm>
          <a:prstGeom prst="round2SameRect">
            <a:avLst/>
          </a:prstGeom>
          <a:gradFill flip="none" rotWithShape="1">
            <a:gsLst>
              <a:gs pos="100000">
                <a:srgbClr val="005815"/>
              </a:gs>
              <a:gs pos="0">
                <a:srgbClr val="0A8600"/>
              </a:gs>
            </a:gsLst>
            <a:lin ang="7200000" scaled="0"/>
            <a:tileRect/>
          </a:gradFill>
          <a:ln>
            <a:noFill/>
          </a:ln>
          <a:effectLst>
            <a:outerShdw blurRad="279400" sx="101000" sy="101000" algn="ctr" rotWithShape="0">
              <a:schemeClr val="accent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5516C34-11AC-42A0-87FA-A68B8635E6E8}"/>
              </a:ext>
            </a:extLst>
          </p:cNvPr>
          <p:cNvSpPr txBox="1"/>
          <p:nvPr/>
        </p:nvSpPr>
        <p:spPr>
          <a:xfrm>
            <a:off x="1047241" y="3578959"/>
            <a:ext cx="18328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03/</a:t>
            </a:r>
            <a:r>
              <a:rPr kumimoji="1" lang="zh-CN" altLang="en-US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  </a:t>
            </a:r>
            <a:r>
              <a:rPr kumimoji="1" lang="en-US" altLang="zh-CN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API</a:t>
            </a:r>
            <a:r>
              <a:rPr kumimoji="1" lang="zh-CN" altLang="en-US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1662D9E-14BA-4D8A-99A8-A18422CC0EB5}"/>
              </a:ext>
            </a:extLst>
          </p:cNvPr>
          <p:cNvSpPr/>
          <p:nvPr/>
        </p:nvSpPr>
        <p:spPr>
          <a:xfrm>
            <a:off x="3412350" y="3554926"/>
            <a:ext cx="7937255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请求，统一管理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接口，处理请求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响应拦截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DF8F954-3151-44CE-843F-903A9A87386E}"/>
              </a:ext>
            </a:extLst>
          </p:cNvPr>
          <p:cNvSpPr/>
          <p:nvPr/>
        </p:nvSpPr>
        <p:spPr>
          <a:xfrm>
            <a:off x="3255126" y="4405301"/>
            <a:ext cx="8294596" cy="641198"/>
          </a:xfrm>
          <a:prstGeom prst="rect">
            <a:avLst/>
          </a:prstGeom>
          <a:solidFill>
            <a:schemeClr val="bg1"/>
          </a:solidFill>
          <a:ln>
            <a:solidFill>
              <a:srgbClr val="005815"/>
            </a:solidFill>
          </a:ln>
          <a:effectLst>
            <a:outerShdw blurRad="177800" sx="101000" sy="101000" algn="ctr" rotWithShape="0">
              <a:schemeClr val="accent2">
                <a:alpha val="1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爱国进步、诚信质朴、求真创新、为人师表  </a:t>
            </a:r>
          </a:p>
        </p:txBody>
      </p:sp>
      <p:sp>
        <p:nvSpPr>
          <p:cNvPr id="19" name="同侧圆角矩形 18">
            <a:extLst>
              <a:ext uri="{FF2B5EF4-FFF2-40B4-BE49-F238E27FC236}">
                <a16:creationId xmlns:a16="http://schemas.microsoft.com/office/drawing/2014/main" id="{260D42B7-1739-439C-A043-B206D3008CA7}"/>
              </a:ext>
            </a:extLst>
          </p:cNvPr>
          <p:cNvSpPr/>
          <p:nvPr/>
        </p:nvSpPr>
        <p:spPr>
          <a:xfrm rot="16200000">
            <a:off x="1707749" y="3697076"/>
            <a:ext cx="641197" cy="2057645"/>
          </a:xfrm>
          <a:prstGeom prst="round2SameRect">
            <a:avLst/>
          </a:prstGeom>
          <a:gradFill flip="none" rotWithShape="1">
            <a:gsLst>
              <a:gs pos="100000">
                <a:srgbClr val="005815"/>
              </a:gs>
              <a:gs pos="0">
                <a:srgbClr val="0A8600"/>
              </a:gs>
            </a:gsLst>
            <a:lin ang="7200000" scaled="0"/>
            <a:tileRect/>
          </a:gradFill>
          <a:ln>
            <a:noFill/>
          </a:ln>
          <a:effectLst>
            <a:outerShdw blurRad="279400" sx="101000" sy="101000" algn="ctr" rotWithShape="0">
              <a:schemeClr val="accent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C3C6312-5E0C-4677-872A-E2CE6B20D00B}"/>
              </a:ext>
            </a:extLst>
          </p:cNvPr>
          <p:cNvSpPr txBox="1"/>
          <p:nvPr/>
        </p:nvSpPr>
        <p:spPr>
          <a:xfrm>
            <a:off x="999525" y="4435063"/>
            <a:ext cx="20576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04</a:t>
            </a:r>
            <a:r>
              <a:rPr kumimoji="1" lang="zh-CN" altLang="en-US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 </a:t>
            </a:r>
            <a:r>
              <a:rPr kumimoji="1" lang="en-US" altLang="zh-CN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/</a:t>
            </a:r>
            <a:r>
              <a:rPr kumimoji="1" lang="zh-CN" altLang="en-US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 </a:t>
            </a:r>
            <a:r>
              <a:rPr kumimoji="1" lang="en-US" altLang="zh-CN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Components</a:t>
            </a:r>
            <a:r>
              <a:rPr kumimoji="1" lang="zh-CN" altLang="en-US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A458245-8E31-43FE-AC27-86C501F787DF}"/>
              </a:ext>
            </a:extLst>
          </p:cNvPr>
          <p:cNvSpPr/>
          <p:nvPr/>
        </p:nvSpPr>
        <p:spPr>
          <a:xfrm>
            <a:off x="3412351" y="4435063"/>
            <a:ext cx="7937255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封装可复用的页面组件，比如工具列表页、详情页、提交页等等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683C766-B46E-4D92-81DE-BFE3056114EB}"/>
              </a:ext>
            </a:extLst>
          </p:cNvPr>
          <p:cNvSpPr/>
          <p:nvPr/>
        </p:nvSpPr>
        <p:spPr>
          <a:xfrm>
            <a:off x="3255126" y="5290196"/>
            <a:ext cx="8294596" cy="641198"/>
          </a:xfrm>
          <a:prstGeom prst="rect">
            <a:avLst/>
          </a:prstGeom>
          <a:solidFill>
            <a:schemeClr val="bg1"/>
          </a:solidFill>
          <a:ln>
            <a:solidFill>
              <a:srgbClr val="005815"/>
            </a:solidFill>
          </a:ln>
          <a:effectLst>
            <a:outerShdw blurRad="177800" sx="101000" sy="101000" algn="ctr" rotWithShape="0">
              <a:schemeClr val="accent2">
                <a:alpha val="1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爱国进步、诚信质朴、求真创新、为人师表  </a:t>
            </a:r>
          </a:p>
        </p:txBody>
      </p:sp>
      <p:sp>
        <p:nvSpPr>
          <p:cNvPr id="23" name="同侧圆角矩形 18">
            <a:extLst>
              <a:ext uri="{FF2B5EF4-FFF2-40B4-BE49-F238E27FC236}">
                <a16:creationId xmlns:a16="http://schemas.microsoft.com/office/drawing/2014/main" id="{B561758C-A4C3-4C31-BBE7-F3640804E3EE}"/>
              </a:ext>
            </a:extLst>
          </p:cNvPr>
          <p:cNvSpPr/>
          <p:nvPr/>
        </p:nvSpPr>
        <p:spPr>
          <a:xfrm rot="16200000">
            <a:off x="1707749" y="4581971"/>
            <a:ext cx="641197" cy="2057645"/>
          </a:xfrm>
          <a:prstGeom prst="round2SameRect">
            <a:avLst/>
          </a:prstGeom>
          <a:gradFill flip="none" rotWithShape="1">
            <a:gsLst>
              <a:gs pos="100000">
                <a:srgbClr val="005815"/>
              </a:gs>
              <a:gs pos="0">
                <a:srgbClr val="0A8600"/>
              </a:gs>
            </a:gsLst>
            <a:lin ang="7200000" scaled="0"/>
            <a:tileRect/>
          </a:gradFill>
          <a:ln>
            <a:noFill/>
          </a:ln>
          <a:effectLst>
            <a:outerShdw blurRad="279400" sx="101000" sy="101000" algn="ctr" rotWithShape="0">
              <a:schemeClr val="accent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5F7B6E9-3156-480C-BC18-CCE5853394EA}"/>
              </a:ext>
            </a:extLst>
          </p:cNvPr>
          <p:cNvSpPr txBox="1"/>
          <p:nvPr/>
        </p:nvSpPr>
        <p:spPr>
          <a:xfrm>
            <a:off x="1048827" y="5376160"/>
            <a:ext cx="17258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05</a:t>
            </a:r>
            <a:r>
              <a:rPr kumimoji="1" lang="zh-CN" altLang="en-US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 </a:t>
            </a:r>
            <a:r>
              <a:rPr kumimoji="1" lang="en-US" altLang="zh-CN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/</a:t>
            </a:r>
            <a:r>
              <a:rPr kumimoji="1" lang="zh-CN" altLang="en-US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  </a:t>
            </a:r>
            <a:r>
              <a:rPr kumimoji="1" lang="en-US" altLang="zh-CN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routes</a:t>
            </a:r>
            <a:r>
              <a:rPr kumimoji="1" lang="zh-CN" altLang="en-US" sz="1600" b="1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39DA7E9-64C9-4553-8B68-69D30CBC474C}"/>
              </a:ext>
            </a:extLst>
          </p:cNvPr>
          <p:cNvSpPr/>
          <p:nvPr/>
        </p:nvSpPr>
        <p:spPr>
          <a:xfrm>
            <a:off x="3412351" y="5319958"/>
            <a:ext cx="7937255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配置前端路由，将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绑定到对应的页面组件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167E58E-3E0B-40C8-9EBC-81DBF289EE85}"/>
              </a:ext>
            </a:extLst>
          </p:cNvPr>
          <p:cNvSpPr txBox="1"/>
          <p:nvPr/>
        </p:nvSpPr>
        <p:spPr>
          <a:xfrm>
            <a:off x="469231" y="958446"/>
            <a:ext cx="10210575" cy="699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</a:t>
            </a:r>
            <a:r>
              <a:rPr lang="zh-CN" altLang="en-US" b="1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端技术栈</a:t>
            </a:r>
            <a:endParaRPr lang="en-US" altLang="zh-CN" b="1" i="0" dirty="0">
              <a:solidFill>
                <a:srgbClr val="666666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Vue3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框架，用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HTML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JavaScript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CSS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4586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Arial" panose="020B0604020202090204" pitchFamily="34" charset="0"/>
                <a:ea typeface="黑体-简" panose="02000000000000000000" charset="-122"/>
              </a:rPr>
              <a:t>3 </a:t>
            </a:r>
            <a:r>
              <a:rPr kumimoji="1" lang="zh-CN" altLang="en-US" dirty="0">
                <a:latin typeface="Arial" panose="020B0604020202090204" pitchFamily="34" charset="0"/>
                <a:ea typeface="黑体-简" panose="02000000000000000000" charset="-122"/>
              </a:rPr>
              <a:t>项目功能介绍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9</a:t>
            </a:fld>
            <a:endParaRPr kumimoji="1" lang="zh-CN" altLang="en-US"/>
          </a:p>
        </p:txBody>
      </p:sp>
      <p:sp>
        <p:nvSpPr>
          <p:cNvPr id="8" name="内容占位符 10"/>
          <p:cNvSpPr>
            <a:spLocks noGrp="1"/>
          </p:cNvSpPr>
          <p:nvPr/>
        </p:nvSpPr>
        <p:spPr>
          <a:xfrm>
            <a:off x="6096000" y="1908604"/>
            <a:ext cx="5207635" cy="4430395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kumimoji="1" lang="en-US" altLang="zh-CN" sz="2000" dirty="0">
              <a:solidFill>
                <a:schemeClr val="tx1"/>
              </a:solidFill>
              <a:latin typeface="Times New Roman" panose="02020503050405090304" charset="0"/>
              <a:ea typeface="黑体-简" panose="02000000000000000000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/>
        </p:nvSpPr>
        <p:spPr>
          <a:xfrm>
            <a:off x="346710" y="1152842"/>
            <a:ext cx="5930900" cy="365125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Times New Roman" panose="02020503050405090304" charset="0"/>
                <a:ea typeface="黑体-简" panose="02000000000000000000" charset="-122"/>
              </a:rPr>
              <a:t>工具资源模块</a:t>
            </a:r>
          </a:p>
          <a:p>
            <a:pPr marL="0" indent="0">
              <a:buNone/>
            </a:pPr>
            <a:endParaRPr lang="zh-CN" altLang="en-US" dirty="0">
              <a:latin typeface="Times New Roman" panose="02020503050405090304" charset="0"/>
              <a:ea typeface="黑体-简" panose="02000000000000000000" charset="-122"/>
            </a:endParaRPr>
          </a:p>
          <a:p>
            <a:pPr marL="0" indent="0">
              <a:buNone/>
            </a:pPr>
            <a:endParaRPr lang="zh-CN" altLang="en-US" dirty="0">
              <a:latin typeface="Times New Roman" panose="02020503050405090304" charset="0"/>
              <a:ea typeface="黑体-简" panose="02000000000000000000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83D831-C048-47D7-AC50-2EC8A0A28F00}"/>
              </a:ext>
            </a:extLst>
          </p:cNvPr>
          <p:cNvSpPr txBox="1"/>
          <p:nvPr/>
        </p:nvSpPr>
        <p:spPr>
          <a:xfrm>
            <a:off x="6448926" y="2805061"/>
            <a:ext cx="54420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i="0" dirty="0">
                <a:effectLst/>
                <a:latin typeface="+mn-ea"/>
              </a:rPr>
              <a:t>工具列表展示（分类筛选、标签筛选、排序：最新</a:t>
            </a:r>
            <a:r>
              <a:rPr lang="en-US" altLang="zh-CN" i="0" dirty="0">
                <a:effectLst/>
                <a:latin typeface="+mn-ea"/>
              </a:rPr>
              <a:t>/</a:t>
            </a:r>
            <a:r>
              <a:rPr lang="zh-CN" altLang="en-US" i="0" dirty="0">
                <a:effectLst/>
                <a:latin typeface="+mn-ea"/>
              </a:rPr>
              <a:t>最多浏览</a:t>
            </a:r>
            <a:r>
              <a:rPr lang="en-US" altLang="zh-CN" i="0" dirty="0">
                <a:effectLst/>
                <a:latin typeface="+mn-ea"/>
              </a:rPr>
              <a:t>/</a:t>
            </a:r>
            <a:r>
              <a:rPr lang="zh-CN" altLang="en-US" i="0" dirty="0">
                <a:effectLst/>
                <a:latin typeface="+mn-ea"/>
              </a:rPr>
              <a:t>最多收藏</a:t>
            </a:r>
            <a:r>
              <a:rPr lang="en-US" altLang="zh-CN" i="0" dirty="0">
                <a:effectLst/>
                <a:latin typeface="+mn-ea"/>
              </a:rPr>
              <a:t>/</a:t>
            </a:r>
            <a:r>
              <a:rPr lang="zh-CN" altLang="en-US" i="0" dirty="0">
                <a:effectLst/>
                <a:latin typeface="+mn-ea"/>
              </a:rPr>
              <a:t>最多点赞）</a:t>
            </a:r>
          </a:p>
          <a:p>
            <a:pPr algn="l"/>
            <a:r>
              <a:rPr lang="zh-CN" altLang="en-US" i="0" dirty="0">
                <a:effectLst/>
                <a:latin typeface="+mn-ea"/>
              </a:rPr>
              <a:t>工具搜索（关键词搜索）</a:t>
            </a:r>
          </a:p>
          <a:p>
            <a:pPr algn="l"/>
            <a:r>
              <a:rPr lang="zh-CN" altLang="en-US" i="0" dirty="0">
                <a:effectLst/>
                <a:latin typeface="+mn-ea"/>
              </a:rPr>
              <a:t>工具详情页（详细信息、使用说明）</a:t>
            </a:r>
          </a:p>
          <a:p>
            <a:pPr algn="l"/>
            <a:r>
              <a:rPr lang="zh-CN" altLang="en-US" i="0" dirty="0">
                <a:effectLst/>
                <a:latin typeface="+mn-ea"/>
              </a:rPr>
              <a:t>工具提交（名称、链接、描述、分类、标签、图片上传）</a:t>
            </a:r>
          </a:p>
          <a:p>
            <a:pPr algn="l"/>
            <a:r>
              <a:rPr lang="zh-CN" altLang="en-US" i="0" dirty="0">
                <a:effectLst/>
                <a:latin typeface="+mn-ea"/>
              </a:rPr>
              <a:t>工具收藏</a:t>
            </a:r>
            <a:r>
              <a:rPr lang="en-US" altLang="zh-CN" i="0" dirty="0">
                <a:effectLst/>
                <a:latin typeface="+mn-ea"/>
              </a:rPr>
              <a:t>/</a:t>
            </a:r>
            <a:r>
              <a:rPr lang="zh-CN" altLang="en-US" i="0" dirty="0">
                <a:effectLst/>
                <a:latin typeface="+mn-ea"/>
              </a:rPr>
              <a:t>取消收藏</a:t>
            </a:r>
          </a:p>
          <a:p>
            <a:pPr algn="l"/>
            <a:r>
              <a:rPr lang="zh-CN" altLang="en-US" i="0" dirty="0">
                <a:effectLst/>
                <a:latin typeface="+mn-ea"/>
              </a:rPr>
              <a:t>工具评论（发表、删除、回复、点赞评论）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F0AF8E0-8E23-4877-BFFE-9254501EE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90" y="2194018"/>
            <a:ext cx="5930900" cy="32851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Arial" panose="020B0604020202090204" pitchFamily="34" charset="0"/>
                <a:ea typeface="黑体-简" panose="02000000000000000000" charset="-122"/>
              </a:rPr>
              <a:t>3 </a:t>
            </a:r>
            <a:r>
              <a:rPr kumimoji="1" lang="zh-CN" altLang="en-US" dirty="0">
                <a:latin typeface="Arial" panose="020B0604020202090204" pitchFamily="34" charset="0"/>
                <a:ea typeface="黑体-简" panose="02000000000000000000" charset="-122"/>
              </a:rPr>
              <a:t>项目功能介绍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10</a:t>
            </a:fld>
            <a:endParaRPr kumimoji="1" lang="zh-CN" altLang="en-US"/>
          </a:p>
        </p:txBody>
      </p:sp>
      <p:sp>
        <p:nvSpPr>
          <p:cNvPr id="8" name="内容占位符 10"/>
          <p:cNvSpPr>
            <a:spLocks noGrp="1"/>
          </p:cNvSpPr>
          <p:nvPr/>
        </p:nvSpPr>
        <p:spPr>
          <a:xfrm>
            <a:off x="6096000" y="1908604"/>
            <a:ext cx="5207635" cy="4430395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kumimoji="1" lang="en-US" altLang="zh-CN" sz="2000" dirty="0">
              <a:solidFill>
                <a:schemeClr val="tx1"/>
              </a:solidFill>
              <a:latin typeface="Times New Roman" panose="02020503050405090304" charset="0"/>
              <a:ea typeface="黑体-简" panose="02000000000000000000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/>
        </p:nvSpPr>
        <p:spPr>
          <a:xfrm>
            <a:off x="346710" y="1152842"/>
            <a:ext cx="5930900" cy="365125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Times New Roman" panose="02020503050405090304" charset="0"/>
                <a:ea typeface="黑体-简" panose="02000000000000000000" charset="-122"/>
              </a:rPr>
              <a:t>课程路线模块</a:t>
            </a:r>
          </a:p>
          <a:p>
            <a:pPr marL="0" indent="0">
              <a:buNone/>
            </a:pPr>
            <a:endParaRPr lang="zh-CN" altLang="en-US" dirty="0">
              <a:latin typeface="Times New Roman" panose="02020503050405090304" charset="0"/>
              <a:ea typeface="黑体-简" panose="02000000000000000000" charset="-122"/>
            </a:endParaRPr>
          </a:p>
          <a:p>
            <a:pPr marL="0" indent="0">
              <a:buNone/>
            </a:pPr>
            <a:endParaRPr lang="zh-CN" altLang="en-US" dirty="0">
              <a:latin typeface="Times New Roman" panose="02020503050405090304" charset="0"/>
              <a:ea typeface="黑体-简" panose="02000000000000000000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83D831-C048-47D7-AC50-2EC8A0A28F00}"/>
              </a:ext>
            </a:extLst>
          </p:cNvPr>
          <p:cNvSpPr txBox="1"/>
          <p:nvPr/>
        </p:nvSpPr>
        <p:spPr>
          <a:xfrm>
            <a:off x="6155238" y="2809594"/>
            <a:ext cx="54420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0" i="0" dirty="0">
                <a:effectLst/>
                <a:latin typeface="Segoe WPC"/>
              </a:rPr>
              <a:t>课程列表展示（学期筛选、分类筛选、排序：最新</a:t>
            </a:r>
            <a:r>
              <a:rPr lang="en-US" altLang="zh-CN" b="0" i="0" dirty="0">
                <a:effectLst/>
                <a:latin typeface="Segoe WPC"/>
              </a:rPr>
              <a:t>/</a:t>
            </a:r>
            <a:r>
              <a:rPr lang="zh-CN" altLang="en-US" b="0" i="0" dirty="0">
                <a:effectLst/>
                <a:latin typeface="Segoe WPC"/>
              </a:rPr>
              <a:t>最多浏览</a:t>
            </a:r>
            <a:r>
              <a:rPr lang="en-US" altLang="zh-CN" b="0" i="0" dirty="0">
                <a:effectLst/>
                <a:latin typeface="Segoe WPC"/>
              </a:rPr>
              <a:t>/</a:t>
            </a:r>
            <a:r>
              <a:rPr lang="zh-CN" altLang="en-US" b="0" i="0" dirty="0">
                <a:effectLst/>
                <a:latin typeface="Segoe WPC"/>
              </a:rPr>
              <a:t>最多点赞</a:t>
            </a:r>
            <a:r>
              <a:rPr lang="en-US" altLang="zh-CN" b="0" i="0" dirty="0">
                <a:effectLst/>
                <a:latin typeface="Segoe WPC"/>
              </a:rPr>
              <a:t>/</a:t>
            </a:r>
            <a:r>
              <a:rPr lang="zh-CN" altLang="en-US" b="0" i="0" dirty="0">
                <a:effectLst/>
                <a:latin typeface="Segoe WPC"/>
              </a:rPr>
              <a:t>最多资料</a:t>
            </a:r>
            <a:r>
              <a:rPr lang="en-US" altLang="zh-CN" b="0" i="0" dirty="0">
                <a:effectLst/>
                <a:latin typeface="Segoe WPC"/>
              </a:rPr>
              <a:t>/</a:t>
            </a:r>
            <a:r>
              <a:rPr lang="zh-CN" altLang="en-US" b="0" i="0" dirty="0">
                <a:effectLst/>
                <a:latin typeface="Segoe WPC"/>
              </a:rPr>
              <a:t>学分最高）</a:t>
            </a:r>
          </a:p>
          <a:p>
            <a:pPr algn="l"/>
            <a:r>
              <a:rPr lang="zh-CN" altLang="en-US" b="0" i="0" dirty="0">
                <a:effectLst/>
                <a:latin typeface="Segoe WPC"/>
              </a:rPr>
              <a:t>课程搜索（关键词搜索）</a:t>
            </a:r>
          </a:p>
          <a:p>
            <a:pPr algn="l"/>
            <a:r>
              <a:rPr lang="zh-CN" altLang="en-US" b="0" i="0" dirty="0">
                <a:effectLst/>
                <a:latin typeface="Segoe WPC"/>
              </a:rPr>
              <a:t>课程详情页（课程信息、教师、资源列表）</a:t>
            </a:r>
          </a:p>
          <a:p>
            <a:pPr algn="l"/>
            <a:r>
              <a:rPr lang="zh-CN" altLang="en-US" b="0" i="0" dirty="0">
                <a:effectLst/>
                <a:latin typeface="Segoe WPC"/>
              </a:rPr>
              <a:t>课程资源上传（网盘链接、文件上传）</a:t>
            </a:r>
          </a:p>
          <a:p>
            <a:pPr algn="l"/>
            <a:r>
              <a:rPr lang="zh-CN" altLang="en-US" b="0" i="0" dirty="0">
                <a:effectLst/>
                <a:latin typeface="Segoe WPC"/>
              </a:rPr>
              <a:t>课程评论（发表、删除、回复、点赞评论）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7B56708-7629-4BE1-9264-A678A5536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845" y="2064876"/>
            <a:ext cx="5856155" cy="324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167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Arial" panose="020B0604020202090204" pitchFamily="34" charset="0"/>
                <a:ea typeface="黑体-简" panose="02000000000000000000" charset="-122"/>
              </a:rPr>
              <a:t>3 </a:t>
            </a:r>
            <a:r>
              <a:rPr kumimoji="1" lang="zh-CN" altLang="en-US" dirty="0">
                <a:latin typeface="Arial" panose="020B0604020202090204" pitchFamily="34" charset="0"/>
                <a:ea typeface="黑体-简" panose="02000000000000000000" charset="-122"/>
              </a:rPr>
              <a:t>项目功能介绍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11</a:t>
            </a:fld>
            <a:endParaRPr kumimoji="1" lang="zh-CN" altLang="en-US"/>
          </a:p>
        </p:txBody>
      </p:sp>
      <p:sp>
        <p:nvSpPr>
          <p:cNvPr id="8" name="内容占位符 10"/>
          <p:cNvSpPr>
            <a:spLocks noGrp="1"/>
          </p:cNvSpPr>
          <p:nvPr/>
        </p:nvSpPr>
        <p:spPr>
          <a:xfrm>
            <a:off x="6096000" y="1908604"/>
            <a:ext cx="5207635" cy="4430395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kumimoji="1" lang="en-US" altLang="zh-CN" sz="2000" dirty="0">
              <a:solidFill>
                <a:schemeClr val="tx1"/>
              </a:solidFill>
              <a:latin typeface="Times New Roman" panose="02020503050405090304" charset="0"/>
              <a:ea typeface="黑体-简" panose="02000000000000000000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/>
        </p:nvSpPr>
        <p:spPr>
          <a:xfrm>
            <a:off x="346710" y="1152842"/>
            <a:ext cx="5930900" cy="365125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Times New Roman" panose="02020503050405090304" charset="0"/>
                <a:ea typeface="黑体-简" panose="02000000000000000000" charset="-122"/>
              </a:rPr>
              <a:t>项目分享模块</a:t>
            </a:r>
          </a:p>
          <a:p>
            <a:pPr marL="0" indent="0">
              <a:buNone/>
            </a:pPr>
            <a:endParaRPr lang="zh-CN" altLang="en-US" dirty="0">
              <a:latin typeface="Times New Roman" panose="02020503050405090304" charset="0"/>
              <a:ea typeface="黑体-简" panose="02000000000000000000" charset="-122"/>
            </a:endParaRPr>
          </a:p>
          <a:p>
            <a:pPr marL="0" indent="0">
              <a:buNone/>
            </a:pPr>
            <a:endParaRPr lang="zh-CN" altLang="en-US" dirty="0">
              <a:latin typeface="Times New Roman" panose="02020503050405090304" charset="0"/>
              <a:ea typeface="黑体-简" panose="02000000000000000000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83D831-C048-47D7-AC50-2EC8A0A28F00}"/>
              </a:ext>
            </a:extLst>
          </p:cNvPr>
          <p:cNvSpPr txBox="1"/>
          <p:nvPr/>
        </p:nvSpPr>
        <p:spPr>
          <a:xfrm>
            <a:off x="6096000" y="2805061"/>
            <a:ext cx="54420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0" i="0" dirty="0">
                <a:effectLst/>
                <a:latin typeface="Segoe WPC"/>
              </a:rPr>
              <a:t>项目列表展示（分类筛选、技术栈筛选、排序）</a:t>
            </a:r>
          </a:p>
          <a:p>
            <a:pPr algn="l"/>
            <a:r>
              <a:rPr lang="zh-CN" altLang="en-US" b="0" i="0" dirty="0">
                <a:effectLst/>
                <a:latin typeface="Segoe WPC"/>
              </a:rPr>
              <a:t>项目搜索（关键词搜索）</a:t>
            </a:r>
          </a:p>
          <a:p>
            <a:pPr algn="l"/>
            <a:r>
              <a:rPr lang="zh-CN" altLang="en-US" b="0" i="0" dirty="0">
                <a:effectLst/>
                <a:latin typeface="Segoe WPC"/>
              </a:rPr>
              <a:t>项目详情页（项目介绍、</a:t>
            </a:r>
            <a:r>
              <a:rPr lang="en-US" altLang="zh-CN" b="0" i="0" dirty="0">
                <a:effectLst/>
                <a:latin typeface="Segoe WPC"/>
              </a:rPr>
              <a:t>GitHub</a:t>
            </a:r>
            <a:r>
              <a:rPr lang="zh-CN" altLang="en-US" b="0" i="0" dirty="0">
                <a:effectLst/>
                <a:latin typeface="Segoe WPC"/>
              </a:rPr>
              <a:t>链接、技术栈、多张截图）</a:t>
            </a:r>
          </a:p>
          <a:p>
            <a:pPr algn="l"/>
            <a:r>
              <a:rPr lang="zh-CN" altLang="en-US" b="0" i="0" dirty="0">
                <a:effectLst/>
                <a:latin typeface="Segoe WPC"/>
              </a:rPr>
              <a:t>项目提交（名称、描述、</a:t>
            </a:r>
            <a:r>
              <a:rPr lang="en-US" altLang="zh-CN" b="0" i="0" dirty="0">
                <a:effectLst/>
                <a:latin typeface="Segoe WPC"/>
              </a:rPr>
              <a:t>GitHub</a:t>
            </a:r>
            <a:r>
              <a:rPr lang="zh-CN" altLang="en-US" b="0" i="0" dirty="0">
                <a:effectLst/>
                <a:latin typeface="Segoe WPC"/>
              </a:rPr>
              <a:t>链接、技术栈、封面图、多张项目截图）</a:t>
            </a:r>
          </a:p>
          <a:p>
            <a:pPr algn="l"/>
            <a:r>
              <a:rPr lang="zh-CN" altLang="en-US" b="0" i="0" dirty="0">
                <a:effectLst/>
                <a:latin typeface="Segoe WPC"/>
              </a:rPr>
              <a:t>项目收藏</a:t>
            </a:r>
            <a:r>
              <a:rPr lang="en-US" altLang="zh-CN" b="0" i="0" dirty="0">
                <a:effectLst/>
                <a:latin typeface="Segoe WPC"/>
              </a:rPr>
              <a:t>/</a:t>
            </a:r>
            <a:r>
              <a:rPr lang="zh-CN" altLang="en-US" b="0" i="0" dirty="0">
                <a:effectLst/>
                <a:latin typeface="Segoe WPC"/>
              </a:rPr>
              <a:t>取消收藏</a:t>
            </a:r>
          </a:p>
          <a:p>
            <a:pPr algn="l"/>
            <a:r>
              <a:rPr lang="zh-CN" altLang="en-US" b="0" i="0" dirty="0">
                <a:effectLst/>
                <a:latin typeface="Segoe WPC"/>
              </a:rPr>
              <a:t>项目评论（发表、删除、回复、点赞评论）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A7398EE-1046-474B-9890-5A7BC9710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31" y="2160319"/>
            <a:ext cx="5709361" cy="316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06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Arial" panose="020B0604020202090204" pitchFamily="34" charset="0"/>
                <a:ea typeface="黑体-简" panose="02000000000000000000" charset="-122"/>
              </a:rPr>
              <a:t>3 </a:t>
            </a:r>
            <a:r>
              <a:rPr kumimoji="1" lang="zh-CN" altLang="en-US" dirty="0">
                <a:latin typeface="Arial" panose="020B0604020202090204" pitchFamily="34" charset="0"/>
                <a:ea typeface="黑体-简" panose="02000000000000000000" charset="-122"/>
              </a:rPr>
              <a:t>项目功能介绍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12</a:t>
            </a:fld>
            <a:endParaRPr kumimoji="1" lang="zh-CN" altLang="en-US"/>
          </a:p>
        </p:txBody>
      </p:sp>
      <p:sp>
        <p:nvSpPr>
          <p:cNvPr id="8" name="内容占位符 10"/>
          <p:cNvSpPr>
            <a:spLocks noGrp="1"/>
          </p:cNvSpPr>
          <p:nvPr/>
        </p:nvSpPr>
        <p:spPr>
          <a:xfrm>
            <a:off x="6096000" y="1908604"/>
            <a:ext cx="5207635" cy="4430395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kumimoji="1" lang="en-US" altLang="zh-CN" sz="2000" dirty="0">
              <a:solidFill>
                <a:schemeClr val="tx1"/>
              </a:solidFill>
              <a:latin typeface="Times New Roman" panose="02020503050405090304" charset="0"/>
              <a:ea typeface="黑体-简" panose="02000000000000000000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/>
        </p:nvSpPr>
        <p:spPr>
          <a:xfrm>
            <a:off x="346710" y="1152842"/>
            <a:ext cx="5930900" cy="365125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Times New Roman" panose="02020503050405090304" charset="0"/>
                <a:ea typeface="黑体-简" panose="02000000000000000000" charset="-122"/>
              </a:rPr>
              <a:t>个人中心模块</a:t>
            </a:r>
          </a:p>
          <a:p>
            <a:pPr marL="0" indent="0">
              <a:buNone/>
            </a:pPr>
            <a:endParaRPr lang="zh-CN" altLang="en-US" dirty="0">
              <a:latin typeface="Times New Roman" panose="02020503050405090304" charset="0"/>
              <a:ea typeface="黑体-简" panose="02000000000000000000" charset="-122"/>
            </a:endParaRPr>
          </a:p>
          <a:p>
            <a:pPr marL="0" indent="0">
              <a:buNone/>
            </a:pPr>
            <a:endParaRPr lang="zh-CN" altLang="en-US" dirty="0">
              <a:latin typeface="Times New Roman" panose="02020503050405090304" charset="0"/>
              <a:ea typeface="黑体-简" panose="02000000000000000000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83D831-C048-47D7-AC50-2EC8A0A28F00}"/>
              </a:ext>
            </a:extLst>
          </p:cNvPr>
          <p:cNvSpPr txBox="1"/>
          <p:nvPr/>
        </p:nvSpPr>
        <p:spPr>
          <a:xfrm>
            <a:off x="6155238" y="2593204"/>
            <a:ext cx="54420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i="0" dirty="0">
                <a:effectLst/>
                <a:latin typeface="Segoe WPC"/>
              </a:rPr>
              <a:t>个人资料编辑（昵称、头像、个人描述、封面照片）</a:t>
            </a:r>
          </a:p>
          <a:p>
            <a:pPr algn="l"/>
            <a:r>
              <a:rPr lang="zh-CN" altLang="en-US" i="0" dirty="0">
                <a:effectLst/>
                <a:latin typeface="Segoe WPC"/>
              </a:rPr>
              <a:t>我的提交（查看所有提交的工具</a:t>
            </a:r>
            <a:r>
              <a:rPr lang="en-US" altLang="zh-CN" i="0" dirty="0">
                <a:effectLst/>
                <a:latin typeface="Segoe WPC"/>
              </a:rPr>
              <a:t>/</a:t>
            </a:r>
            <a:r>
              <a:rPr lang="zh-CN" altLang="en-US" i="0" dirty="0">
                <a:effectLst/>
                <a:latin typeface="Segoe WPC"/>
              </a:rPr>
              <a:t>项目</a:t>
            </a:r>
            <a:r>
              <a:rPr lang="en-US" altLang="zh-CN" i="0" dirty="0">
                <a:effectLst/>
                <a:latin typeface="Segoe WPC"/>
              </a:rPr>
              <a:t>/</a:t>
            </a:r>
            <a:r>
              <a:rPr lang="zh-CN" altLang="en-US" i="0" dirty="0">
                <a:effectLst/>
                <a:latin typeface="Segoe WPC"/>
              </a:rPr>
              <a:t>课程，包括审核状态）</a:t>
            </a:r>
          </a:p>
          <a:p>
            <a:pPr algn="l"/>
            <a:r>
              <a:rPr lang="zh-CN" altLang="en-US" i="0" dirty="0">
                <a:effectLst/>
                <a:latin typeface="Segoe WPC"/>
              </a:rPr>
              <a:t>我的收藏（查看收藏的工具</a:t>
            </a:r>
            <a:r>
              <a:rPr lang="en-US" altLang="zh-CN" i="0" dirty="0">
                <a:effectLst/>
                <a:latin typeface="Segoe WPC"/>
              </a:rPr>
              <a:t>/</a:t>
            </a:r>
            <a:r>
              <a:rPr lang="zh-CN" altLang="en-US" i="0" dirty="0">
                <a:effectLst/>
                <a:latin typeface="Segoe WPC"/>
              </a:rPr>
              <a:t>项目</a:t>
            </a:r>
            <a:r>
              <a:rPr lang="en-US" altLang="zh-CN" i="0" dirty="0">
                <a:effectLst/>
                <a:latin typeface="Segoe WPC"/>
              </a:rPr>
              <a:t>/</a:t>
            </a:r>
            <a:r>
              <a:rPr lang="zh-CN" altLang="en-US" i="0" dirty="0">
                <a:effectLst/>
                <a:latin typeface="Segoe WPC"/>
              </a:rPr>
              <a:t>课程，支持取消收藏）</a:t>
            </a:r>
          </a:p>
          <a:p>
            <a:pPr algn="l"/>
            <a:r>
              <a:rPr lang="zh-CN" altLang="en-US" i="0" dirty="0">
                <a:effectLst/>
                <a:latin typeface="Segoe WPC"/>
              </a:rPr>
              <a:t>审核状态（查看提交内容的审核状态：待审核</a:t>
            </a:r>
            <a:r>
              <a:rPr lang="en-US" altLang="zh-CN" i="0" dirty="0">
                <a:effectLst/>
                <a:latin typeface="Segoe WPC"/>
              </a:rPr>
              <a:t>/</a:t>
            </a:r>
            <a:r>
              <a:rPr lang="zh-CN" altLang="en-US" i="0" dirty="0">
                <a:effectLst/>
                <a:latin typeface="Segoe WPC"/>
              </a:rPr>
              <a:t>已通过</a:t>
            </a:r>
            <a:r>
              <a:rPr lang="en-US" altLang="zh-CN" i="0" dirty="0">
                <a:effectLst/>
                <a:latin typeface="Segoe WPC"/>
              </a:rPr>
              <a:t>/</a:t>
            </a:r>
            <a:r>
              <a:rPr lang="zh-CN" altLang="en-US" i="0" dirty="0">
                <a:effectLst/>
                <a:latin typeface="Segoe WPC"/>
              </a:rPr>
              <a:t>已驳回）</a:t>
            </a:r>
          </a:p>
          <a:p>
            <a:pPr algn="l"/>
            <a:r>
              <a:rPr lang="zh-CN" altLang="en-US" i="0" dirty="0">
                <a:effectLst/>
                <a:latin typeface="Segoe WPC"/>
              </a:rPr>
              <a:t>账户安全（修改邮箱、修改密码）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25C878D-3001-451D-BBF4-B952DA471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07" y="2302029"/>
            <a:ext cx="5218706" cy="289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693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Arial" panose="020B0604020202090204" pitchFamily="34" charset="0"/>
                <a:ea typeface="黑体-简" panose="02000000000000000000" charset="-122"/>
              </a:rPr>
              <a:t>3 </a:t>
            </a:r>
            <a:r>
              <a:rPr kumimoji="1" lang="zh-CN" altLang="en-US" dirty="0">
                <a:latin typeface="Arial" panose="020B0604020202090204" pitchFamily="34" charset="0"/>
                <a:ea typeface="黑体-简" panose="02000000000000000000" charset="-122"/>
              </a:rPr>
              <a:t>项目功能介绍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13</a:t>
            </a:fld>
            <a:endParaRPr kumimoji="1" lang="zh-CN" altLang="en-US"/>
          </a:p>
        </p:txBody>
      </p:sp>
      <p:sp>
        <p:nvSpPr>
          <p:cNvPr id="8" name="内容占位符 10"/>
          <p:cNvSpPr>
            <a:spLocks noGrp="1"/>
          </p:cNvSpPr>
          <p:nvPr/>
        </p:nvSpPr>
        <p:spPr>
          <a:xfrm>
            <a:off x="6096000" y="1908604"/>
            <a:ext cx="5207635" cy="4430395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kumimoji="1" lang="en-US" altLang="zh-CN" sz="2000" dirty="0">
              <a:solidFill>
                <a:schemeClr val="tx1"/>
              </a:solidFill>
              <a:latin typeface="Times New Roman" panose="02020503050405090304" charset="0"/>
              <a:ea typeface="黑体-简" panose="02000000000000000000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/>
        </p:nvSpPr>
        <p:spPr>
          <a:xfrm>
            <a:off x="346710" y="1152842"/>
            <a:ext cx="5930900" cy="365125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Times New Roman" panose="02020503050405090304" charset="0"/>
                <a:ea typeface="黑体-简" panose="02000000000000000000" charset="-122"/>
              </a:rPr>
              <a:t>管理审核模块</a:t>
            </a:r>
          </a:p>
          <a:p>
            <a:pPr marL="0" indent="0">
              <a:buNone/>
            </a:pPr>
            <a:endParaRPr lang="zh-CN" altLang="en-US" dirty="0">
              <a:latin typeface="Times New Roman" panose="02020503050405090304" charset="0"/>
              <a:ea typeface="黑体-简" panose="02000000000000000000" charset="-122"/>
            </a:endParaRPr>
          </a:p>
          <a:p>
            <a:pPr marL="0" indent="0">
              <a:buNone/>
            </a:pPr>
            <a:endParaRPr lang="zh-CN" altLang="en-US" dirty="0">
              <a:latin typeface="Times New Roman" panose="02020503050405090304" charset="0"/>
              <a:ea typeface="黑体-简" panose="02000000000000000000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83D831-C048-47D7-AC50-2EC8A0A28F00}"/>
              </a:ext>
            </a:extLst>
          </p:cNvPr>
          <p:cNvSpPr txBox="1"/>
          <p:nvPr/>
        </p:nvSpPr>
        <p:spPr>
          <a:xfrm>
            <a:off x="7724776" y="2828835"/>
            <a:ext cx="43553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0" i="0" dirty="0">
                <a:effectLst/>
                <a:latin typeface="Segoe WPC"/>
              </a:rPr>
              <a:t>审核中心（查看所有待审核内容）</a:t>
            </a:r>
          </a:p>
          <a:p>
            <a:pPr algn="l"/>
            <a:r>
              <a:rPr lang="zh-CN" altLang="en-US" b="0" i="0" dirty="0">
                <a:effectLst/>
                <a:latin typeface="Segoe WPC"/>
              </a:rPr>
              <a:t>内容审核（通过</a:t>
            </a:r>
            <a:r>
              <a:rPr lang="en-US" altLang="zh-CN" b="0" i="0" dirty="0">
                <a:effectLst/>
                <a:latin typeface="Segoe WPC"/>
              </a:rPr>
              <a:t>/</a:t>
            </a:r>
            <a:r>
              <a:rPr lang="zh-CN" altLang="en-US" b="0" i="0" dirty="0">
                <a:effectLst/>
                <a:latin typeface="Segoe WPC"/>
              </a:rPr>
              <a:t>驳回工具</a:t>
            </a:r>
            <a:r>
              <a:rPr lang="en-US" altLang="zh-CN" b="0" i="0" dirty="0">
                <a:effectLst/>
                <a:latin typeface="Segoe WPC"/>
              </a:rPr>
              <a:t>/</a:t>
            </a:r>
            <a:r>
              <a:rPr lang="zh-CN" altLang="en-US" b="0" i="0" dirty="0">
                <a:effectLst/>
                <a:latin typeface="Segoe WPC"/>
              </a:rPr>
              <a:t>项目</a:t>
            </a:r>
            <a:r>
              <a:rPr lang="en-US" altLang="zh-CN" b="0" i="0" dirty="0">
                <a:effectLst/>
                <a:latin typeface="Segoe WPC"/>
              </a:rPr>
              <a:t>/</a:t>
            </a:r>
            <a:r>
              <a:rPr lang="zh-CN" altLang="en-US" b="0" i="0" dirty="0">
                <a:effectLst/>
                <a:latin typeface="Segoe WPC"/>
              </a:rPr>
              <a:t>课程）</a:t>
            </a:r>
          </a:p>
          <a:p>
            <a:pPr algn="l"/>
            <a:r>
              <a:rPr lang="zh-CN" altLang="en-US" b="0" i="0" dirty="0">
                <a:effectLst/>
                <a:latin typeface="Segoe WPC"/>
              </a:rPr>
              <a:t>驳回原因填写（审核驳回时填写原因）</a:t>
            </a:r>
          </a:p>
          <a:p>
            <a:pPr algn="l"/>
            <a:r>
              <a:rPr lang="zh-CN" altLang="en-US" b="0" i="0" dirty="0">
                <a:effectLst/>
                <a:latin typeface="Segoe WPC"/>
              </a:rPr>
              <a:t>审核历史查看（查看审核记录）</a:t>
            </a:r>
            <a:endParaRPr lang="en-US" altLang="zh-CN" b="0" i="0" dirty="0">
              <a:effectLst/>
              <a:latin typeface="Segoe WPC"/>
            </a:endParaRPr>
          </a:p>
          <a:p>
            <a:pPr algn="l"/>
            <a:r>
              <a:rPr lang="zh-CN" altLang="en-US" dirty="0">
                <a:latin typeface="Segoe WPC"/>
              </a:rPr>
              <a:t>批量审核与状态机</a:t>
            </a:r>
            <a:endParaRPr lang="zh-CN" altLang="en-US" b="0" i="0" dirty="0">
              <a:effectLst/>
              <a:latin typeface="Segoe WPC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51D393C-8B55-4381-B552-4D8D46A91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39" y="1808864"/>
            <a:ext cx="7272337" cy="389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279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Arial" panose="020B0604020202090204" pitchFamily="34" charset="0"/>
                <a:ea typeface="黑体-简" panose="02000000000000000000" charset="-122"/>
              </a:rPr>
              <a:t>3 </a:t>
            </a:r>
            <a:r>
              <a:rPr kumimoji="1" lang="zh-CN" altLang="en-US" dirty="0">
                <a:latin typeface="Arial" panose="020B0604020202090204" pitchFamily="34" charset="0"/>
                <a:ea typeface="黑体-简" panose="02000000000000000000" charset="-122"/>
              </a:rPr>
              <a:t>项目功能介绍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14</a:t>
            </a:fld>
            <a:endParaRPr kumimoji="1" lang="zh-CN" altLang="en-US"/>
          </a:p>
        </p:txBody>
      </p:sp>
      <p:sp>
        <p:nvSpPr>
          <p:cNvPr id="8" name="内容占位符 10"/>
          <p:cNvSpPr>
            <a:spLocks noGrp="1"/>
          </p:cNvSpPr>
          <p:nvPr/>
        </p:nvSpPr>
        <p:spPr>
          <a:xfrm>
            <a:off x="6096000" y="1908604"/>
            <a:ext cx="5207635" cy="4430395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kumimoji="1" lang="en-US" altLang="zh-CN" sz="2000" dirty="0">
              <a:solidFill>
                <a:schemeClr val="tx1"/>
              </a:solidFill>
              <a:latin typeface="Times New Roman" panose="02020503050405090304" charset="0"/>
              <a:ea typeface="黑体-简" panose="02000000000000000000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/>
        </p:nvSpPr>
        <p:spPr>
          <a:xfrm>
            <a:off x="346710" y="1152842"/>
            <a:ext cx="5930900" cy="365125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Times New Roman" panose="02020503050405090304" charset="0"/>
                <a:ea typeface="黑体-简" panose="02000000000000000000" charset="-122"/>
              </a:rPr>
              <a:t>数据统计模块</a:t>
            </a:r>
          </a:p>
          <a:p>
            <a:pPr marL="0" indent="0">
              <a:buNone/>
            </a:pPr>
            <a:endParaRPr lang="zh-CN" altLang="en-US" dirty="0">
              <a:latin typeface="Times New Roman" panose="02020503050405090304" charset="0"/>
              <a:ea typeface="黑体-简" panose="02000000000000000000" charset="-122"/>
            </a:endParaRPr>
          </a:p>
          <a:p>
            <a:pPr marL="0" indent="0">
              <a:buNone/>
            </a:pPr>
            <a:endParaRPr lang="zh-CN" altLang="en-US" dirty="0">
              <a:latin typeface="Times New Roman" panose="02020503050405090304" charset="0"/>
              <a:ea typeface="黑体-简" panose="02000000000000000000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83D831-C048-47D7-AC50-2EC8A0A28F00}"/>
              </a:ext>
            </a:extLst>
          </p:cNvPr>
          <p:cNvSpPr txBox="1"/>
          <p:nvPr/>
        </p:nvSpPr>
        <p:spPr>
          <a:xfrm>
            <a:off x="7329488" y="2988664"/>
            <a:ext cx="46648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0" i="0" dirty="0">
                <a:effectLst/>
                <a:latin typeface="Segoe WPC"/>
              </a:rPr>
              <a:t>资源数据概览：累计条目、待审核队列、资源类型占比、工具分类 </a:t>
            </a:r>
            <a:r>
              <a:rPr lang="en-US" altLang="zh-CN" b="0" i="0" dirty="0">
                <a:effectLst/>
                <a:latin typeface="Segoe WPC"/>
              </a:rPr>
              <a:t>TOP</a:t>
            </a:r>
            <a:endParaRPr lang="zh-CN" altLang="en-US" b="0" i="0" dirty="0">
              <a:effectLst/>
              <a:latin typeface="Segoe WPC"/>
            </a:endParaRPr>
          </a:p>
          <a:p>
            <a:pPr algn="l"/>
            <a:r>
              <a:rPr lang="zh-CN" altLang="en-US" b="0" i="0" dirty="0">
                <a:effectLst/>
                <a:latin typeface="Segoe WPC"/>
              </a:rPr>
              <a:t>资源关联图谱：标签共现关联、力导向 </a:t>
            </a:r>
            <a:r>
              <a:rPr lang="en-US" altLang="zh-CN" b="0" i="0" dirty="0">
                <a:effectLst/>
                <a:latin typeface="Segoe WPC"/>
              </a:rPr>
              <a:t>/ </a:t>
            </a:r>
            <a:r>
              <a:rPr lang="zh-CN" altLang="en-US" b="0" i="0" dirty="0">
                <a:effectLst/>
                <a:latin typeface="Segoe WPC"/>
              </a:rPr>
              <a:t>环形布局、节点跳转详情</a:t>
            </a:r>
          </a:p>
          <a:p>
            <a:pPr algn="l"/>
            <a:r>
              <a:rPr lang="zh-CN" altLang="en-US" b="0" i="0" dirty="0">
                <a:effectLst/>
                <a:latin typeface="Segoe WPC"/>
              </a:rPr>
              <a:t>全站资源目录：工具 </a:t>
            </a:r>
            <a:r>
              <a:rPr lang="en-US" altLang="zh-CN" b="0" i="0" dirty="0">
                <a:effectLst/>
                <a:latin typeface="Segoe WPC"/>
              </a:rPr>
              <a:t>/ </a:t>
            </a:r>
            <a:r>
              <a:rPr lang="zh-CN" altLang="en-US" b="0" i="0" dirty="0">
                <a:effectLst/>
                <a:latin typeface="Segoe WPC"/>
              </a:rPr>
              <a:t>课程 </a:t>
            </a:r>
            <a:r>
              <a:rPr lang="en-US" altLang="zh-CN" b="0" i="0" dirty="0">
                <a:effectLst/>
                <a:latin typeface="Segoe WPC"/>
              </a:rPr>
              <a:t>/ </a:t>
            </a:r>
            <a:r>
              <a:rPr lang="zh-CN" altLang="en-US" b="0" i="0" dirty="0">
                <a:effectLst/>
                <a:latin typeface="Segoe WPC"/>
              </a:rPr>
              <a:t>项目聚合检索、管理员快速定位：</a:t>
            </a:r>
          </a:p>
          <a:p>
            <a:pPr algn="l"/>
            <a:r>
              <a:rPr lang="zh-CN" altLang="en-US" b="0" i="0" dirty="0">
                <a:effectLst/>
                <a:latin typeface="Segoe WPC"/>
              </a:rPr>
              <a:t>接口与性能监控：</a:t>
            </a:r>
            <a:r>
              <a:rPr lang="en-US" altLang="zh-CN" b="0" i="0" dirty="0">
                <a:effectLst/>
                <a:latin typeface="Segoe WPC"/>
              </a:rPr>
              <a:t>HTTP </a:t>
            </a:r>
            <a:r>
              <a:rPr lang="zh-CN" altLang="en-US" b="0" i="0" dirty="0">
                <a:effectLst/>
                <a:latin typeface="Segoe WPC"/>
              </a:rPr>
              <a:t>耗时统计、页面加载指标、错误率摘要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41E8897-7B29-43DA-90AB-0780E2489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10" y="2026497"/>
            <a:ext cx="6641306" cy="367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462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Arial" panose="020B0604020202090204" pitchFamily="34" charset="0"/>
                <a:ea typeface="黑体-简" panose="02000000000000000000" charset="-122"/>
              </a:rPr>
              <a:t>4 </a:t>
            </a:r>
            <a:r>
              <a:rPr kumimoji="1" lang="zh-CN" altLang="en-US" dirty="0">
                <a:latin typeface="Arial" panose="020B0604020202090204" pitchFamily="34" charset="0"/>
                <a:ea typeface="黑体-简" panose="02000000000000000000" charset="-122"/>
              </a:rPr>
              <a:t>工程化实践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185685" y="6358537"/>
            <a:ext cx="2743200" cy="365125"/>
          </a:xfrm>
        </p:spPr>
        <p:txBody>
          <a:bodyPr/>
          <a:lstStyle/>
          <a:p>
            <a:fld id="{4E334DFF-A8DE-B148-81B1-4F37B46AC470}" type="slidenum">
              <a:rPr kumimoji="1" lang="zh-CN" altLang="en-US" smtClean="0"/>
              <a:t>15</a:t>
            </a:fld>
            <a:endParaRPr kumimoji="1" lang="zh-CN" altLang="en-US" dirty="0"/>
          </a:p>
        </p:txBody>
      </p:sp>
      <p:sp>
        <p:nvSpPr>
          <p:cNvPr id="29" name="圆角矩形 1"/>
          <p:cNvSpPr/>
          <p:nvPr>
            <p:custDataLst>
              <p:tags r:id="rId1"/>
            </p:custDataLst>
          </p:nvPr>
        </p:nvSpPr>
        <p:spPr>
          <a:xfrm>
            <a:off x="753440" y="1151229"/>
            <a:ext cx="4509770" cy="2299335"/>
          </a:xfrm>
          <a:prstGeom prst="roundRect">
            <a:avLst>
              <a:gd name="adj" fmla="val 0"/>
            </a:avLst>
          </a:prstGeom>
          <a:solidFill>
            <a:schemeClr val="accent1">
              <a:alpha val="10000"/>
            </a:schemeClr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269371" y="1743506"/>
            <a:ext cx="3651495" cy="139277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503050405090304" charset="0"/>
                <a:ea typeface="黑体-简" panose="02000000000000000000" charset="-122"/>
                <a:cs typeface="微软雅黑" charset="0"/>
                <a:sym typeface="+mn-ea"/>
              </a:rPr>
              <a:t>自动识别并处理外部</a:t>
            </a:r>
            <a:r>
              <a:rPr lang="en-US" altLang="zh-CN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503050405090304" charset="0"/>
                <a:ea typeface="黑体-简" panose="02000000000000000000" charset="-122"/>
                <a:cs typeface="微软雅黑" charset="0"/>
                <a:sym typeface="+mn-ea"/>
              </a:rPr>
              <a:t>URL</a:t>
            </a: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503050405090304" charset="0"/>
                <a:ea typeface="黑体-简" panose="02000000000000000000" charset="-122"/>
                <a:cs typeface="微软雅黑" charset="0"/>
                <a:sym typeface="+mn-ea"/>
              </a:rPr>
              <a:t>、</a:t>
            </a:r>
            <a:r>
              <a:rPr lang="en-US" altLang="zh-CN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503050405090304" charset="0"/>
                <a:ea typeface="黑体-简" panose="02000000000000000000" charset="-122"/>
                <a:cs typeface="微软雅黑" charset="0"/>
                <a:sym typeface="+mn-ea"/>
              </a:rPr>
              <a:t>Base64</a:t>
            </a: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503050405090304" charset="0"/>
                <a:ea typeface="黑体-简" panose="02000000000000000000" charset="-122"/>
                <a:cs typeface="微软雅黑" charset="0"/>
                <a:sym typeface="+mn-ea"/>
              </a:rPr>
              <a:t>编码、本地路径三种图片格式；智能下载外部图片并保存到本地文件系统（按年月组织目录结构）；文件命名采用时间戳</a:t>
            </a:r>
            <a:r>
              <a:rPr lang="en-US" altLang="zh-CN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503050405090304" charset="0"/>
                <a:ea typeface="黑体-简" panose="02000000000000000000" charset="-122"/>
                <a:cs typeface="微软雅黑" charset="0"/>
                <a:sym typeface="+mn-ea"/>
              </a:rPr>
              <a:t>+MD5</a:t>
            </a: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503050405090304" charset="0"/>
                <a:ea typeface="黑体-简" panose="02000000000000000000" charset="-122"/>
                <a:cs typeface="微软雅黑" charset="0"/>
                <a:sym typeface="+mn-ea"/>
              </a:rPr>
              <a:t>哈希算法，避免重名冲突</a:t>
            </a: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1268735" y="1249152"/>
            <a:ext cx="3651495" cy="5642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>
                <a:solidFill>
                  <a:schemeClr val="accent1"/>
                </a:solidFill>
                <a:latin typeface="Times New Roman" panose="02020503050405090304" charset="0"/>
                <a:ea typeface="黑体-简" panose="02000000000000000000" charset="-122"/>
                <a:cs typeface="+mn-ea"/>
                <a:sym typeface="+mn-ea"/>
              </a:rPr>
              <a:t>智能图片资源管理系统</a:t>
            </a: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150865" y="1151292"/>
            <a:ext cx="921785" cy="164416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1500" b="1" dirty="0">
                <a:gradFill flip="none" rotWithShape="1"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72000">
                      <a:schemeClr val="accent1"/>
                    </a:gs>
                  </a:gsLst>
                  <a:lin ang="2700000" scaled="1"/>
                  <a:tileRect/>
                </a:gradFill>
                <a:latin typeface="+mn-ea"/>
                <a:cs typeface="+mn-ea"/>
                <a:sym typeface="+mn-ea"/>
              </a:rPr>
              <a:t>1</a:t>
            </a:r>
            <a:endParaRPr lang="zh-CN" altLang="en-US" sz="11500" b="1" dirty="0">
              <a:gradFill flip="none" rotWithShape="1"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72000">
                    <a:schemeClr val="accent1"/>
                  </a:gs>
                </a:gsLst>
                <a:lin ang="2700000" scaled="1"/>
                <a:tileRect/>
              </a:gradFill>
              <a:latin typeface="+mn-ea"/>
              <a:cs typeface="+mn-ea"/>
              <a:sym typeface="+mn-ea"/>
            </a:endParaRPr>
          </a:p>
        </p:txBody>
      </p:sp>
      <p:sp>
        <p:nvSpPr>
          <p:cNvPr id="35" name="圆角矩形 1"/>
          <p:cNvSpPr/>
          <p:nvPr>
            <p:custDataLst>
              <p:tags r:id="rId5"/>
            </p:custDataLst>
          </p:nvPr>
        </p:nvSpPr>
        <p:spPr>
          <a:xfrm>
            <a:off x="2010453" y="4165300"/>
            <a:ext cx="4509770" cy="2299335"/>
          </a:xfrm>
          <a:prstGeom prst="roundRect">
            <a:avLst>
              <a:gd name="adj" fmla="val 0"/>
            </a:avLst>
          </a:prstGeom>
          <a:solidFill>
            <a:schemeClr val="accent1">
              <a:alpha val="10000"/>
            </a:schemeClr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1407418" y="4157548"/>
            <a:ext cx="921785" cy="164416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1500" b="1">
                <a:gradFill flip="none" rotWithShape="1"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72000">
                      <a:schemeClr val="accent1"/>
                    </a:gs>
                  </a:gsLst>
                  <a:lin ang="2700000" scaled="1"/>
                  <a:tileRect/>
                </a:gradFill>
                <a:latin typeface="+mn-ea"/>
                <a:cs typeface="+mn-ea"/>
                <a:sym typeface="+mn-ea"/>
              </a:rPr>
              <a:t>2</a:t>
            </a:r>
            <a:endParaRPr lang="zh-CN" altLang="en-US" sz="11500" b="1">
              <a:gradFill flip="none" rotWithShape="1"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72000">
                    <a:schemeClr val="accent1"/>
                  </a:gs>
                </a:gsLst>
                <a:lin ang="2700000" scaled="1"/>
                <a:tileRect/>
              </a:gradFill>
              <a:latin typeface="+mn-ea"/>
              <a:cs typeface="+mn-ea"/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2525924" y="4796947"/>
            <a:ext cx="3651495" cy="139277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503050405090304" charset="0"/>
                <a:ea typeface="黑体-简" panose="02000000000000000000" charset="-122"/>
                <a:cs typeface="微软雅黑" charset="0"/>
                <a:sym typeface="+mn-ea"/>
              </a:rPr>
              <a:t>基于内容哈希的</a:t>
            </a:r>
            <a:r>
              <a:rPr lang="en-US" altLang="zh-CN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503050405090304" charset="0"/>
                <a:ea typeface="黑体-简" panose="02000000000000000000" charset="-122"/>
                <a:cs typeface="微软雅黑" charset="0"/>
                <a:sym typeface="+mn-ea"/>
              </a:rPr>
              <a:t>SVG</a:t>
            </a: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503050405090304" charset="0"/>
                <a:ea typeface="黑体-简" panose="02000000000000000000" charset="-122"/>
                <a:cs typeface="微软雅黑" charset="0"/>
                <a:sym typeface="+mn-ea"/>
              </a:rPr>
              <a:t>图标自动生成算法：</a:t>
            </a:r>
            <a:endParaRPr lang="en-US" altLang="zh-CN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Times New Roman" panose="02020503050405090304" charset="0"/>
              <a:ea typeface="黑体-简" panose="02000000000000000000" charset="-122"/>
              <a:cs typeface="微软雅黑" charset="0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503050405090304" charset="0"/>
                <a:ea typeface="黑体-简" panose="02000000000000000000" charset="-122"/>
                <a:cs typeface="微软雅黑" charset="0"/>
                <a:sym typeface="+mn-ea"/>
              </a:rPr>
              <a:t>基于用户昵称</a:t>
            </a:r>
            <a:r>
              <a:rPr lang="en-US" altLang="zh-CN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503050405090304" charset="0"/>
                <a:ea typeface="黑体-简" panose="02000000000000000000" charset="-122"/>
                <a:cs typeface="微软雅黑" charset="0"/>
                <a:sym typeface="+mn-ea"/>
              </a:rPr>
              <a:t>/</a:t>
            </a: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503050405090304" charset="0"/>
                <a:ea typeface="黑体-简" panose="02000000000000000000" charset="-122"/>
                <a:cs typeface="微软雅黑" charset="0"/>
                <a:sym typeface="+mn-ea"/>
              </a:rPr>
              <a:t>项目名称首字符自动生成</a:t>
            </a:r>
            <a:r>
              <a:rPr lang="en-US" altLang="zh-CN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503050405090304" charset="0"/>
                <a:ea typeface="黑体-简" panose="02000000000000000000" charset="-122"/>
                <a:cs typeface="微软雅黑" charset="0"/>
                <a:sym typeface="+mn-ea"/>
              </a:rPr>
              <a:t>SVG</a:t>
            </a: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503050405090304" charset="0"/>
                <a:ea typeface="黑体-简" panose="02000000000000000000" charset="-122"/>
                <a:cs typeface="微软雅黑" charset="0"/>
                <a:sym typeface="+mn-ea"/>
              </a:rPr>
              <a:t>格式图标，使用颜色分配算法为不同内容分配不同背景色，确保视觉区分度；无需额外图片资源，零存储和</a:t>
            </a:r>
            <a:r>
              <a:rPr lang="en-US" altLang="zh-CN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503050405090304" charset="0"/>
                <a:ea typeface="黑体-简" panose="02000000000000000000" charset="-122"/>
                <a:cs typeface="微软雅黑" charset="0"/>
                <a:sym typeface="+mn-ea"/>
              </a:rPr>
              <a:t>CDN</a:t>
            </a: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503050405090304" charset="0"/>
                <a:ea typeface="黑体-简" panose="02000000000000000000" charset="-122"/>
                <a:cs typeface="微软雅黑" charset="0"/>
                <a:sym typeface="+mn-ea"/>
              </a:rPr>
              <a:t>成本</a:t>
            </a:r>
          </a:p>
        </p:txBody>
      </p:sp>
      <p:sp>
        <p:nvSpPr>
          <p:cNvPr id="16" name="矩形 15"/>
          <p:cNvSpPr/>
          <p:nvPr>
            <p:custDataLst>
              <p:tags r:id="rId8"/>
            </p:custDataLst>
          </p:nvPr>
        </p:nvSpPr>
        <p:spPr>
          <a:xfrm>
            <a:off x="2525289" y="4263223"/>
            <a:ext cx="3994894" cy="5642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>
                <a:solidFill>
                  <a:schemeClr val="accent1"/>
                </a:solidFill>
                <a:latin typeface="Times New Roman" panose="02020503050405090304" charset="0"/>
                <a:ea typeface="黑体-简" panose="02000000000000000000" charset="-122"/>
                <a:cs typeface="+mn-ea"/>
                <a:sym typeface="+mn-ea"/>
              </a:rPr>
              <a:t>零资源消耗的默认图标生成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477F5115-FC47-4AB6-9C40-94347917B4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3048" y="1909057"/>
            <a:ext cx="5488087" cy="303988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90204" pitchFamily="34" charset="0"/>
                <a:ea typeface="黑体-简" panose="02000000000000000000" charset="-122"/>
                <a:cs typeface="Arial" panose="020B0604020202090204" pitchFamily="34" charset="0"/>
              </a:rPr>
              <a:t>4 </a:t>
            </a:r>
            <a:r>
              <a:rPr lang="zh-CN" altLang="en-US" dirty="0">
                <a:latin typeface="Arial" panose="020B0604020202090204" pitchFamily="34" charset="0"/>
                <a:ea typeface="黑体-简" panose="02000000000000000000" charset="-122"/>
                <a:cs typeface="Arial" panose="020B0604020202090204" pitchFamily="34" charset="0"/>
              </a:rPr>
              <a:t>工程化实践</a:t>
            </a:r>
            <a:endParaRPr lang="en-US" altLang="zh-CN" dirty="0">
              <a:latin typeface="Arial" panose="020B0604020202090204" pitchFamily="34" charset="0"/>
              <a:ea typeface="黑体-简" panose="02000000000000000000" charset="-122"/>
              <a:cs typeface="Arial" panose="020B060402020209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16</a:t>
            </a:fld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46709" y="1336968"/>
            <a:ext cx="5717941" cy="6451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dirty="0">
                <a:latin typeface="Times New Roman" panose="02020503050405090304" charset="0"/>
                <a:ea typeface="黑体-简" panose="02000000000000000000" charset="-122"/>
              </a:rPr>
              <a:t>在功能迭代中我们发现，工具 </a:t>
            </a:r>
            <a:r>
              <a:rPr lang="en-US" altLang="zh-CN" dirty="0">
                <a:latin typeface="Times New Roman" panose="02020503050405090304" charset="0"/>
                <a:ea typeface="黑体-简" panose="02000000000000000000" charset="-122"/>
              </a:rPr>
              <a:t>/ </a:t>
            </a:r>
            <a:r>
              <a:rPr lang="zh-CN" altLang="en-US" dirty="0">
                <a:latin typeface="Times New Roman" panose="02020503050405090304" charset="0"/>
                <a:ea typeface="黑体-简" panose="02000000000000000000" charset="-122"/>
              </a:rPr>
              <a:t>课程 </a:t>
            </a:r>
            <a:r>
              <a:rPr lang="en-US" altLang="zh-CN" dirty="0">
                <a:latin typeface="Times New Roman" panose="02020503050405090304" charset="0"/>
                <a:ea typeface="黑体-简" panose="02000000000000000000" charset="-122"/>
              </a:rPr>
              <a:t>/ </a:t>
            </a:r>
            <a:r>
              <a:rPr lang="zh-CN" altLang="en-US" dirty="0">
                <a:latin typeface="Times New Roman" panose="02020503050405090304" charset="0"/>
                <a:ea typeface="黑体-简" panose="02000000000000000000" charset="-122"/>
              </a:rPr>
              <a:t>项目等界面的展示、评论、提交的接口与逻辑存在重合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46709" y="2375234"/>
            <a:ext cx="6694329" cy="235881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dirty="0">
                <a:latin typeface="Times New Roman" panose="02020503050405090304" charset="0"/>
                <a:ea typeface="黑体-简" panose="02000000000000000000" charset="-122"/>
              </a:rPr>
              <a:t>因此为了加速开发，自研代码生成工具链：</a:t>
            </a:r>
          </a:p>
          <a:p>
            <a:pPr marL="285750" indent="-285750">
              <a:buFont typeface="Wingdings" panose="05000000000000000000" charset="0"/>
              <a:buChar char="u"/>
            </a:pPr>
            <a:r>
              <a:rPr lang="en-US" altLang="zh-CN" b="1" dirty="0">
                <a:latin typeface="Times New Roman" panose="02020503050405090304" charset="0"/>
                <a:ea typeface="黑体-简" panose="02000000000000000000" charset="-122"/>
              </a:rPr>
              <a:t>Python</a:t>
            </a:r>
            <a:r>
              <a:rPr lang="zh-CN" altLang="en-US" b="1" dirty="0">
                <a:latin typeface="Times New Roman" panose="02020503050405090304" charset="0"/>
                <a:ea typeface="黑体-简" panose="02000000000000000000" charset="-122"/>
              </a:rPr>
              <a:t>代码自动生成脚本：</a:t>
            </a:r>
            <a:r>
              <a:rPr lang="zh-CN" altLang="en-US" b="0" i="0" dirty="0">
                <a:effectLst/>
                <a:latin typeface="Segoe WPC"/>
              </a:rPr>
              <a:t>从 </a:t>
            </a:r>
            <a:r>
              <a:rPr lang="en-US" altLang="zh-CN" b="0" i="0" dirty="0">
                <a:effectLst/>
                <a:latin typeface="Consolas" panose="020B0609020204030204" pitchFamily="49" charset="0"/>
              </a:rPr>
              <a:t>database/</a:t>
            </a:r>
            <a:r>
              <a:rPr lang="en-US" altLang="zh-CN" b="0" i="0" dirty="0" err="1">
                <a:effectLst/>
                <a:latin typeface="Consolas" panose="020B0609020204030204" pitchFamily="49" charset="0"/>
              </a:rPr>
              <a:t>schema.sql</a:t>
            </a:r>
            <a:r>
              <a:rPr lang="en-US" altLang="zh-CN" b="0" i="0" dirty="0">
                <a:effectLst/>
                <a:latin typeface="Segoe WPC"/>
              </a:rPr>
              <a:t> </a:t>
            </a:r>
            <a:r>
              <a:rPr lang="zh-CN" altLang="en-US" b="0" i="0" dirty="0">
                <a:effectLst/>
                <a:latin typeface="Segoe WPC"/>
              </a:rPr>
              <a:t>自动解析数据库表结构，自动生成</a:t>
            </a:r>
            <a:r>
              <a:rPr lang="en-US" altLang="zh-CN" b="0" i="0" dirty="0">
                <a:effectLst/>
                <a:latin typeface="Segoe WPC"/>
              </a:rPr>
              <a:t>Go</a:t>
            </a:r>
            <a:r>
              <a:rPr lang="zh-CN" altLang="en-US" b="0" i="0" dirty="0">
                <a:effectLst/>
                <a:latin typeface="Segoe WPC"/>
              </a:rPr>
              <a:t>语言的</a:t>
            </a:r>
            <a:r>
              <a:rPr lang="en-US" altLang="zh-CN" b="0" i="0" dirty="0">
                <a:effectLst/>
                <a:latin typeface="Segoe WPC"/>
              </a:rPr>
              <a:t>Repository</a:t>
            </a:r>
            <a:r>
              <a:rPr lang="zh-CN" altLang="en-US" b="0" i="0" dirty="0">
                <a:effectLst/>
                <a:latin typeface="Segoe WPC"/>
              </a:rPr>
              <a:t>接口和实现代码（包含基础</a:t>
            </a:r>
            <a:r>
              <a:rPr lang="en-US" altLang="zh-CN" b="0" i="0" dirty="0">
                <a:effectLst/>
                <a:latin typeface="Segoe WPC"/>
              </a:rPr>
              <a:t>CRUD</a:t>
            </a:r>
            <a:r>
              <a:rPr lang="zh-CN" altLang="en-US" b="0" i="0" dirty="0">
                <a:effectLst/>
                <a:latin typeface="Segoe WPC"/>
              </a:rPr>
              <a:t>操作）</a:t>
            </a:r>
          </a:p>
          <a:p>
            <a:endParaRPr lang="en-US" altLang="zh-CN" dirty="0">
              <a:latin typeface="Times New Roman" panose="02020503050405090304" charset="0"/>
              <a:ea typeface="黑体-简" panose="02000000000000000000" charset="-122"/>
            </a:endParaRPr>
          </a:p>
          <a:p>
            <a:pPr marL="285750" indent="-285750">
              <a:buFont typeface="Wingdings" panose="05000000000000000000" charset="0"/>
              <a:buChar char="u"/>
            </a:pPr>
            <a:r>
              <a:rPr lang="en-US" altLang="zh-CN" b="1" dirty="0">
                <a:latin typeface="Times New Roman" panose="02020503050405090304" charset="0"/>
                <a:ea typeface="黑体-简" panose="02000000000000000000" charset="-122"/>
              </a:rPr>
              <a:t>Swagger API</a:t>
            </a:r>
            <a:r>
              <a:rPr lang="zh-CN" altLang="en-US" b="1" dirty="0">
                <a:latin typeface="Times New Roman" panose="02020503050405090304" charset="0"/>
                <a:ea typeface="黑体-简" panose="02000000000000000000" charset="-122"/>
              </a:rPr>
              <a:t>自动生成：</a:t>
            </a:r>
            <a:r>
              <a:rPr lang="zh-CN" altLang="en-US" b="0" i="0" dirty="0">
                <a:effectLst/>
                <a:latin typeface="Segoe WPC"/>
              </a:rPr>
              <a:t>从代码注释生成可视化</a:t>
            </a:r>
            <a:r>
              <a:rPr lang="en-US" altLang="zh-CN" b="0" i="0" dirty="0">
                <a:effectLst/>
                <a:latin typeface="Segoe WPC"/>
              </a:rPr>
              <a:t>API</a:t>
            </a:r>
            <a:r>
              <a:rPr lang="zh-CN" altLang="en-US" b="0" i="0" dirty="0">
                <a:effectLst/>
                <a:latin typeface="Segoe WPC"/>
              </a:rPr>
              <a:t>文档，提供统一的开发工具链，提升开发效率和代码一致性</a:t>
            </a:r>
          </a:p>
          <a:p>
            <a:pPr marL="285750" indent="-285750">
              <a:buFont typeface="Wingdings" panose="05000000000000000000" charset="0"/>
              <a:buChar char="u"/>
            </a:pPr>
            <a:endParaRPr lang="en-US" altLang="zh-CN" dirty="0">
              <a:latin typeface="Times New Roman" panose="02020503050405090304" charset="0"/>
              <a:ea typeface="黑体-简" panose="02000000000000000000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45D8823-4374-4AE2-B89E-C389AB1CF0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352" y="4382458"/>
            <a:ext cx="5169166" cy="205750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EF48EDA-EF15-4AE9-9C42-61F8DB0113A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574155" y="1110175"/>
            <a:ext cx="921785" cy="164416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1500" b="1">
                <a:gradFill flip="none" rotWithShape="1"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72000">
                      <a:schemeClr val="accent1"/>
                    </a:gs>
                  </a:gsLst>
                  <a:lin ang="2700000" scaled="1"/>
                  <a:tileRect/>
                </a:gradFill>
                <a:latin typeface="Times New Roman" panose="02020503050405090304" charset="0"/>
                <a:ea typeface="黑体-简" panose="02000000000000000000" charset="-122"/>
                <a:cs typeface="+mn-ea"/>
                <a:sym typeface="+mn-ea"/>
              </a:rPr>
              <a:t>3</a:t>
            </a:r>
          </a:p>
        </p:txBody>
      </p:sp>
      <p:sp>
        <p:nvSpPr>
          <p:cNvPr id="10" name="圆角矩形 1">
            <a:extLst>
              <a:ext uri="{FF2B5EF4-FFF2-40B4-BE49-F238E27FC236}">
                <a16:creationId xmlns:a16="http://schemas.microsoft.com/office/drawing/2014/main" id="{62E1C452-FF59-4F4D-86FD-383FB87DA90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177405" y="1129665"/>
            <a:ext cx="4509770" cy="2299335"/>
          </a:xfrm>
          <a:prstGeom prst="roundRect">
            <a:avLst>
              <a:gd name="adj" fmla="val 0"/>
            </a:avLst>
          </a:prstGeom>
          <a:solidFill>
            <a:schemeClr val="accent1">
              <a:alpha val="10000"/>
            </a:schemeClr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A68056-4219-4111-87AF-B51ECF83FFB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93025" y="1761490"/>
            <a:ext cx="3651250" cy="17684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zh-CN" altLang="en-US" sz="1400" dirty="0">
                <a:effectLst/>
              </a:rPr>
              <a:t>从数据库表结构自动生成</a:t>
            </a:r>
            <a:r>
              <a:rPr lang="en-US" altLang="zh-CN" sz="1400" dirty="0">
                <a:effectLst/>
              </a:rPr>
              <a:t>Repository</a:t>
            </a:r>
            <a:r>
              <a:rPr lang="zh-CN" altLang="en-US" sz="1400" dirty="0">
                <a:effectLst/>
              </a:rPr>
              <a:t>代码从 </a:t>
            </a:r>
            <a:r>
              <a:rPr lang="en-US" altLang="zh-CN" sz="1400" dirty="0">
                <a:effectLst/>
                <a:latin typeface="Consolas" panose="020B0609020204030204" pitchFamily="49" charset="0"/>
              </a:rPr>
              <a:t>database/</a:t>
            </a:r>
            <a:r>
              <a:rPr lang="en-US" altLang="zh-CN" sz="1400" dirty="0" err="1">
                <a:effectLst/>
                <a:latin typeface="Consolas" panose="020B0609020204030204" pitchFamily="49" charset="0"/>
              </a:rPr>
              <a:t>schema.sql</a:t>
            </a:r>
            <a:r>
              <a:rPr lang="zh-CN" altLang="en-US" sz="1400" dirty="0">
                <a:effectLst/>
              </a:rPr>
              <a:t> 自动解析数据库表结构</a:t>
            </a:r>
          </a:p>
          <a:p>
            <a:r>
              <a:rPr lang="zh-CN" altLang="en-US" sz="1400" dirty="0">
                <a:effectLst/>
              </a:rPr>
              <a:t>自动生成</a:t>
            </a:r>
            <a:r>
              <a:rPr lang="en-US" altLang="zh-CN" sz="1400" dirty="0">
                <a:effectLst/>
              </a:rPr>
              <a:t>Go</a:t>
            </a:r>
            <a:r>
              <a:rPr lang="zh-CN" altLang="en-US" sz="1400" dirty="0">
                <a:effectLst/>
              </a:rPr>
              <a:t>语言的</a:t>
            </a:r>
            <a:r>
              <a:rPr lang="en-US" altLang="zh-CN" sz="1400" dirty="0">
                <a:effectLst/>
              </a:rPr>
              <a:t>Repository</a:t>
            </a:r>
            <a:r>
              <a:rPr lang="zh-CN" altLang="en-US" sz="1400" dirty="0">
                <a:effectLst/>
              </a:rPr>
              <a:t>接口和实现代码（包含基础</a:t>
            </a:r>
            <a:r>
              <a:rPr lang="en-US" altLang="zh-CN" sz="1400" dirty="0">
                <a:effectLst/>
              </a:rPr>
              <a:t>CRUD</a:t>
            </a:r>
            <a:r>
              <a:rPr lang="zh-CN" altLang="en-US" sz="1400" dirty="0">
                <a:effectLst/>
              </a:rPr>
              <a:t>操作）</a:t>
            </a:r>
            <a:endParaRPr lang="en-US" altLang="zh-CN" sz="1400" dirty="0">
              <a:effectLst/>
            </a:endParaRPr>
          </a:p>
          <a:p>
            <a:r>
              <a:rPr lang="zh-CN" altLang="en-US" sz="1400" dirty="0">
                <a:effectLst/>
              </a:rPr>
              <a:t>集成</a:t>
            </a:r>
            <a:r>
              <a:rPr lang="en-US" altLang="zh-CN" sz="1400" dirty="0">
                <a:effectLst/>
              </a:rPr>
              <a:t>Swagger API</a:t>
            </a:r>
            <a:r>
              <a:rPr lang="zh-CN" altLang="en-US" sz="1400" dirty="0">
                <a:effectLst/>
              </a:rPr>
              <a:t>文档自动生成，从代码注释生成可视化</a:t>
            </a:r>
            <a:r>
              <a:rPr lang="en-US" altLang="zh-CN" sz="1400" dirty="0">
                <a:effectLst/>
              </a:rPr>
              <a:t>API</a:t>
            </a:r>
            <a:r>
              <a:rPr lang="zh-CN" altLang="en-US" sz="1400" dirty="0">
                <a:effectLst/>
              </a:rPr>
              <a:t>文档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Times New Roman" panose="02020503050405090304" charset="0"/>
              <a:ea typeface="黑体-简" panose="02000000000000000000" charset="-122"/>
              <a:cs typeface="微软雅黑" charset="0"/>
              <a:sym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7CD3CAE-9531-4554-9A6B-403F3DA97D4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692241" y="1227573"/>
            <a:ext cx="3651495" cy="5642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>
                <a:solidFill>
                  <a:schemeClr val="accent1"/>
                </a:solidFill>
                <a:latin typeface="Times New Roman" panose="02020503050405090304" charset="0"/>
                <a:ea typeface="黑体-简" panose="02000000000000000000" charset="-122"/>
                <a:cs typeface="+mn-ea"/>
                <a:sym typeface="+mn-ea"/>
              </a:rPr>
              <a:t>自研代码生成工具链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Arial" panose="020B0604020202090204" pitchFamily="34" charset="0"/>
                <a:ea typeface="黑体-简" panose="02000000000000000000" charset="-122"/>
              </a:rPr>
              <a:t>5 </a:t>
            </a:r>
            <a:r>
              <a:rPr kumimoji="1" lang="zh-CN" altLang="en-US" dirty="0">
                <a:latin typeface="Arial" panose="020B0604020202090204" pitchFamily="34" charset="0"/>
                <a:ea typeface="黑体-简" panose="02000000000000000000" charset="-122"/>
              </a:rPr>
              <a:t>智能化能力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17</a:t>
            </a:fld>
            <a:endParaRPr kumimoji="1" lang="zh-CN" altLang="en-US"/>
          </a:p>
        </p:txBody>
      </p:sp>
      <p:sp>
        <p:nvSpPr>
          <p:cNvPr id="8" name="内容占位符 10"/>
          <p:cNvSpPr>
            <a:spLocks noGrp="1"/>
          </p:cNvSpPr>
          <p:nvPr/>
        </p:nvSpPr>
        <p:spPr>
          <a:xfrm>
            <a:off x="6096000" y="1908604"/>
            <a:ext cx="5207635" cy="4430395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kumimoji="1" lang="en-US" altLang="zh-CN" sz="2000" dirty="0">
              <a:solidFill>
                <a:schemeClr val="tx1"/>
              </a:solidFill>
              <a:latin typeface="Times New Roman" panose="02020503050405090304" charset="0"/>
              <a:ea typeface="黑体-简" panose="02000000000000000000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8EF0801-8623-4610-82A9-6F9D8325E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20" y="1315514"/>
            <a:ext cx="8505825" cy="471143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87B0FE1-BEA4-4B9E-990F-A962A2AC8114}"/>
              </a:ext>
            </a:extLst>
          </p:cNvPr>
          <p:cNvSpPr txBox="1"/>
          <p:nvPr/>
        </p:nvSpPr>
        <p:spPr>
          <a:xfrm>
            <a:off x="9147811" y="3071064"/>
            <a:ext cx="29184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学习助手问答</a:t>
            </a:r>
            <a:endParaRPr lang="en-US" altLang="zh-CN" dirty="0"/>
          </a:p>
          <a:p>
            <a:r>
              <a:rPr lang="zh-CN" altLang="en-US" dirty="0"/>
              <a:t>混合检索回答</a:t>
            </a:r>
            <a:endParaRPr lang="en-US" altLang="zh-CN" dirty="0"/>
          </a:p>
          <a:p>
            <a:r>
              <a:rPr lang="zh-CN" altLang="en-US" dirty="0"/>
              <a:t>引用溯源</a:t>
            </a:r>
            <a:endParaRPr lang="en-US" altLang="zh-CN" dirty="0"/>
          </a:p>
          <a:p>
            <a:r>
              <a:rPr lang="zh-CN" altLang="en-US" dirty="0"/>
              <a:t>索引管理</a:t>
            </a:r>
          </a:p>
        </p:txBody>
      </p:sp>
    </p:spTree>
    <p:extLst>
      <p:ext uri="{BB962C8B-B14F-4D97-AF65-F5344CB8AC3E}">
        <p14:creationId xmlns:p14="http://schemas.microsoft.com/office/powerpoint/2010/main" val="3817173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Arial" panose="020B0604020202090204" pitchFamily="34" charset="0"/>
                <a:ea typeface="黑体-简" panose="02000000000000000000" charset="-122"/>
              </a:rPr>
              <a:t>5 </a:t>
            </a:r>
            <a:r>
              <a:rPr kumimoji="1" lang="zh-CN" altLang="en-US" dirty="0">
                <a:latin typeface="Arial" panose="020B0604020202090204" pitchFamily="34" charset="0"/>
                <a:ea typeface="黑体-简" panose="02000000000000000000" charset="-122"/>
              </a:rPr>
              <a:t>智能化能力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18</a:t>
            </a:fld>
            <a:endParaRPr kumimoji="1" lang="zh-CN" altLang="en-US"/>
          </a:p>
        </p:txBody>
      </p:sp>
      <p:sp>
        <p:nvSpPr>
          <p:cNvPr id="8" name="内容占位符 10"/>
          <p:cNvSpPr>
            <a:spLocks noGrp="1"/>
          </p:cNvSpPr>
          <p:nvPr/>
        </p:nvSpPr>
        <p:spPr>
          <a:xfrm>
            <a:off x="6096000" y="1908604"/>
            <a:ext cx="5207635" cy="4430395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kumimoji="1" lang="en-US" altLang="zh-CN" sz="2000" dirty="0">
              <a:solidFill>
                <a:schemeClr val="tx1"/>
              </a:solidFill>
              <a:latin typeface="Times New Roman" panose="02020503050405090304" charset="0"/>
              <a:ea typeface="黑体-简" panose="02000000000000000000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FE9AE44-CD05-49DA-AA31-08638CA9D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382" y="1173085"/>
            <a:ext cx="4677970" cy="516591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B428D39-35F5-4D56-BFA4-3E20ECCC80C7}"/>
              </a:ext>
            </a:extLst>
          </p:cNvPr>
          <p:cNvSpPr txBox="1"/>
          <p:nvPr/>
        </p:nvSpPr>
        <p:spPr>
          <a:xfrm>
            <a:off x="7052234" y="3385137"/>
            <a:ext cx="50028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技术实现：</a:t>
            </a:r>
            <a:endParaRPr lang="en-US" altLang="zh-CN" dirty="0"/>
          </a:p>
          <a:p>
            <a:r>
              <a:rPr lang="en-US" altLang="zh-CN" dirty="0"/>
              <a:t>RAG</a:t>
            </a:r>
            <a:r>
              <a:rPr lang="zh-CN" altLang="en-US" dirty="0"/>
              <a:t>（检索增强生成）整体</a:t>
            </a:r>
            <a:endParaRPr lang="en-US" altLang="zh-CN" dirty="0"/>
          </a:p>
          <a:p>
            <a:r>
              <a:rPr lang="zh-CN" altLang="en-US" dirty="0"/>
              <a:t>混合检索（向量 </a:t>
            </a:r>
            <a:r>
              <a:rPr lang="en-US" altLang="zh-CN" dirty="0"/>
              <a:t>+ </a:t>
            </a:r>
            <a:r>
              <a:rPr lang="zh-CN" altLang="en-US" dirty="0"/>
              <a:t>倒排）</a:t>
            </a:r>
            <a:endParaRPr lang="en-US" altLang="zh-CN" dirty="0"/>
          </a:p>
          <a:p>
            <a:r>
              <a:rPr lang="en-US" altLang="zh-CN" dirty="0"/>
              <a:t>Go </a:t>
            </a:r>
            <a:r>
              <a:rPr lang="zh-CN" altLang="en-US" dirty="0"/>
              <a:t>网关 </a:t>
            </a:r>
            <a:r>
              <a:rPr lang="en-US" altLang="zh-CN" dirty="0"/>
              <a:t>+ Python Agent </a:t>
            </a:r>
            <a:r>
              <a:rPr lang="zh-CN" altLang="en-US" dirty="0"/>
              <a:t>分工</a:t>
            </a:r>
            <a:endParaRPr lang="en-US" altLang="zh-CN" dirty="0"/>
          </a:p>
          <a:p>
            <a:r>
              <a:rPr lang="en-US" altLang="zh-CN" dirty="0"/>
              <a:t>SSE </a:t>
            </a:r>
            <a:r>
              <a:rPr lang="zh-CN" altLang="en-US" dirty="0"/>
              <a:t>流式输出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5224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Arial" panose="020B0604020202090204" pitchFamily="34" charset="0"/>
              </a:rPr>
              <a:t>6 </a:t>
            </a:r>
            <a:r>
              <a:rPr lang="zh-CN" altLang="en-US" dirty="0">
                <a:cs typeface="Arial" panose="020B0604020202090204" pitchFamily="34" charset="0"/>
              </a:rPr>
              <a:t>项目演示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6709" y="1227772"/>
            <a:ext cx="11199741" cy="521970"/>
          </a:xfrm>
        </p:spPr>
        <p:txBody>
          <a:bodyPr/>
          <a:lstStyle/>
          <a:p>
            <a:r>
              <a:rPr lang="zh-CN" altLang="en-US" dirty="0">
                <a:latin typeface="微软雅黑" charset="0"/>
                <a:ea typeface="微软雅黑" charset="0"/>
                <a:cs typeface="Arial" panose="020B0604020202090204" pitchFamily="34" charset="0"/>
              </a:rPr>
              <a:t>软工资源共享平台</a:t>
            </a:r>
            <a:endParaRPr lang="zh-CN" altLang="en-US" dirty="0">
              <a:latin typeface="微软雅黑" charset="0"/>
              <a:ea typeface="微软雅黑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V="1">
            <a:off x="0" y="952870"/>
            <a:ext cx="12192000" cy="16671"/>
          </a:xfrm>
          <a:prstGeom prst="line">
            <a:avLst/>
          </a:prstGeom>
          <a:ln w="38100">
            <a:solidFill>
              <a:srgbClr val="00531D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/>
          <a:srcRect r="84457"/>
          <a:stretch>
            <a:fillRect/>
          </a:stretch>
        </p:blipFill>
        <p:spPr>
          <a:xfrm>
            <a:off x="10378505" y="378639"/>
            <a:ext cx="1008112" cy="115605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-1" y="1963689"/>
            <a:ext cx="12192000" cy="2736898"/>
          </a:xfrm>
          <a:prstGeom prst="rect">
            <a:avLst/>
          </a:prstGeom>
          <a:solidFill>
            <a:srgbClr val="095D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73144"/>
            <a:ext cx="6485997" cy="1156056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716784" y="2843505"/>
            <a:ext cx="2874010" cy="9772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4800" b="1" spc="300" dirty="0">
                <a:solidFill>
                  <a:schemeClr val="bg1"/>
                </a:solidFill>
                <a:latin typeface="Arial" panose="020B0604020202090204" pitchFamily="34" charset="0"/>
                <a:ea typeface="黑体-简" panose="02000000000000000000" charset="-122"/>
              </a:rPr>
              <a:t>Thanks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66"/>
    </mc:Choice>
    <mc:Fallback xmlns="">
      <p:transition advTm="2066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3cf936e1-1da8-45a3-84fa-62c6d6963dd7"/>
  <p:tag name="COMMONDATA" val="eyJoZGlkIjoiODViY2JkMjU3NGYzZTEwMzZmMGFkZWViYmNkYWU3NDIifQ=="/>
  <p:tag name="RESOURCE_RECORD_KEY" val="{&quot;10&quot;:[21600282],&quot;29&quot;:[20435158,20426308,50053052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8*311"/>
  <p:tag name="TABLE_ENDDRAG_RECT" val="27*131*878*3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868_3*l_h_i*1_1_2"/>
  <p:tag name="KSO_WM_TEMPLATE_CATEGORY" val="diagram"/>
  <p:tag name="KSO_WM_TEMPLATE_INDEX" val="2023186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103942871094,&quot;width&quot;:850.4468383789062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868_3*l_h_f*1_1_1"/>
  <p:tag name="KSO_WM_TEMPLATE_CATEGORY" val="diagram"/>
  <p:tag name="KSO_WM_TEMPLATE_INDEX" val="20231868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103942871094,&quot;width&quot;:850.4468383789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，以便观者准确地理解您传达的思想。单击此处添加文本具体内容，简明扼要地阐述您的内容观点。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868_3*l_h_a*1_1_1"/>
  <p:tag name="KSO_WM_TEMPLATE_CATEGORY" val="diagram"/>
  <p:tag name="KSO_WM_TEMPLATE_INDEX" val="20231868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103942871094,&quot;width&quot;:850.4468383789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此处添加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868_3*l_h_i*1_1_1"/>
  <p:tag name="KSO_WM_TEMPLATE_CATEGORY" val="diagram"/>
  <p:tag name="KSO_WM_TEMPLATE_INDEX" val="2023186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SUBTYPE" val="d"/>
  <p:tag name="KSO_WM_UNIT_TYPE" val="l_h_i"/>
  <p:tag name="KSO_WM_UNIT_INDEX" val="1_1_1"/>
  <p:tag name="KSO_WM_DIAGRAM_MAX_ITEMCNT" val="4"/>
  <p:tag name="KSO_WM_DIAGRAM_MIN_ITEMCNT" val="2"/>
  <p:tag name="KSO_WM_DIAGRAM_VIRTUALLY_FRAME" val="{&quot;height&quot;:372.3103942871094,&quot;width&quot;:850.4468383789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720000028610229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3"/>
  <p:tag name="KSO_WM_UNIT_TEXT_FILL_TYPE" val="3"/>
  <p:tag name="KSO_WM_UNIT_USESOURCEFORMAT_APPLY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868_3*l_h_i*1_2_2"/>
  <p:tag name="KSO_WM_TEMPLATE_CATEGORY" val="diagram"/>
  <p:tag name="KSO_WM_TEMPLATE_INDEX" val="2023186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103942871094,&quot;width&quot;:850.4468383789062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868_3*l_h_i*1_2_1"/>
  <p:tag name="KSO_WM_TEMPLATE_CATEGORY" val="diagram"/>
  <p:tag name="KSO_WM_TEMPLATE_INDEX" val="2023186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SUBTYPE" val="d"/>
  <p:tag name="KSO_WM_UNIT_TYPE" val="l_h_i"/>
  <p:tag name="KSO_WM_UNIT_INDEX" val="1_2_1"/>
  <p:tag name="KSO_WM_DIAGRAM_MAX_ITEMCNT" val="4"/>
  <p:tag name="KSO_WM_DIAGRAM_MIN_ITEMCNT" val="2"/>
  <p:tag name="KSO_WM_DIAGRAM_VIRTUALLY_FRAME" val="{&quot;height&quot;:372.3103942871094,&quot;width&quot;:850.4468383789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720000028610229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3"/>
  <p:tag name="KSO_WM_UNIT_TEXT_FILL_TYPE" val="3"/>
  <p:tag name="KSO_WM_UNIT_USESOURCEFORMAT_APPLY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868_3*l_h_f*1_2_1"/>
  <p:tag name="KSO_WM_TEMPLATE_CATEGORY" val="diagram"/>
  <p:tag name="KSO_WM_TEMPLATE_INDEX" val="20231868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103942871094,&quot;width&quot;:850.4468383789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，以便观者准确地理解您传达的思想。单击此处添加文本具体内容，简明扼要地阐述您的内容观点。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868_3*l_h_a*1_2_1"/>
  <p:tag name="KSO_WM_TEMPLATE_CATEGORY" val="diagram"/>
  <p:tag name="KSO_WM_TEMPLATE_INDEX" val="20231868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103942871094,&quot;width&quot;:850.4468383789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此处添加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868_3*l_h_i*1_3_1"/>
  <p:tag name="KSO_WM_TEMPLATE_CATEGORY" val="diagram"/>
  <p:tag name="KSO_WM_TEMPLATE_INDEX" val="2023186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SUBTYPE" val="d"/>
  <p:tag name="KSO_WM_UNIT_TYPE" val="l_h_i"/>
  <p:tag name="KSO_WM_UNIT_INDEX" val="1_3_1"/>
  <p:tag name="KSO_WM_DIAGRAM_MAX_ITEMCNT" val="4"/>
  <p:tag name="KSO_WM_DIAGRAM_MIN_ITEMCNT" val="2"/>
  <p:tag name="KSO_WM_DIAGRAM_VIRTUALLY_FRAME" val="{&quot;height&quot;:372.3103942871094,&quot;width&quot;:850.4468383789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720000028610229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3"/>
  <p:tag name="KSO_WM_UNIT_TEXT_FILL_TYPE" val="3"/>
  <p:tag name="KSO_WM_UNIT_USESOURCEFORMAT_APPLY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1868_3*l_h_i*1_4_2"/>
  <p:tag name="KSO_WM_TEMPLATE_CATEGORY" val="diagram"/>
  <p:tag name="KSO_WM_TEMPLATE_INDEX" val="2023186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103942871094,&quot;width&quot;:850.4468383789062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1868_3*l_h_f*1_4_1"/>
  <p:tag name="KSO_WM_TEMPLATE_CATEGORY" val="diagram"/>
  <p:tag name="KSO_WM_TEMPLATE_INDEX" val="20231868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103942871094,&quot;width&quot;:850.4468383789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，以便观者准确地理解您传达的思想。单击此处添加文本具体内容，简明扼要地阐述您的内容观点。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1868_3*l_h_a*1_4_1"/>
  <p:tag name="KSO_WM_TEMPLATE_CATEGORY" val="diagram"/>
  <p:tag name="KSO_WM_TEMPLATE_INDEX" val="20231868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103942871094,&quot;width&quot;:850.4468383789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此处添加标题"/>
  <p:tag name="KSO_WM_UNIT_TEXT_FILL_FORE_SCHEMECOLOR_INDEX" val="1"/>
  <p:tag name="KSO_WM_UNIT_TEXT_FILL_TYPE" val="1"/>
  <p:tag name="KSO_WM_UNIT_TEXT_TYPE" val="1"/>
  <p:tag name="KSO_WM_UNIT_USESOURCEFORMAT_APPLY" val="0"/>
</p:tagLst>
</file>

<file path=ppt/theme/theme1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1376</TotalTime>
  <Words>1522</Words>
  <Application>Microsoft Office PowerPoint</Application>
  <PresentationFormat>宽屏</PresentationFormat>
  <Paragraphs>193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20</vt:i4>
      </vt:variant>
    </vt:vector>
  </HeadingPairs>
  <TitlesOfParts>
    <vt:vector size="36" baseType="lpstr">
      <vt:lpstr>Segoe WPC</vt:lpstr>
      <vt:lpstr>等线</vt:lpstr>
      <vt:lpstr>等线 Light</vt:lpstr>
      <vt:lpstr>思源宋体</vt:lpstr>
      <vt:lpstr>思源宋体 CN</vt:lpstr>
      <vt:lpstr>思源宋体CN</vt:lpstr>
      <vt:lpstr>微软雅黑</vt:lpstr>
      <vt:lpstr>微软雅黑</vt:lpstr>
      <vt:lpstr>Arial</vt:lpstr>
      <vt:lpstr>Consolas</vt:lpstr>
      <vt:lpstr>Times New Roman</vt:lpstr>
      <vt:lpstr>Wingdings</vt:lpstr>
      <vt:lpstr>2_自定义设计方案</vt:lpstr>
      <vt:lpstr>1_自定义设计方案</vt:lpstr>
      <vt:lpstr>3_自定义设计方案</vt:lpstr>
      <vt:lpstr>4_自定义设计方案</vt:lpstr>
      <vt:lpstr>PowerPoint 演示文稿</vt:lpstr>
      <vt:lpstr>目录</vt:lpstr>
      <vt:lpstr>1 项目背景与定位</vt:lpstr>
      <vt:lpstr>1 项目背景与定位</vt:lpstr>
      <vt:lpstr>1 项目背景与定位</vt:lpstr>
      <vt:lpstr>1 项目背景与定位</vt:lpstr>
      <vt:lpstr>2 项目代码说明</vt:lpstr>
      <vt:lpstr>2 项目代码说明</vt:lpstr>
      <vt:lpstr>3 项目功能介绍</vt:lpstr>
      <vt:lpstr>3 项目功能介绍</vt:lpstr>
      <vt:lpstr>3 项目功能介绍</vt:lpstr>
      <vt:lpstr>3 项目功能介绍</vt:lpstr>
      <vt:lpstr>3 项目功能介绍</vt:lpstr>
      <vt:lpstr>3 项目功能介绍</vt:lpstr>
      <vt:lpstr>4 工程化实践</vt:lpstr>
      <vt:lpstr>4 工程化实践</vt:lpstr>
      <vt:lpstr>5 智能化能力</vt:lpstr>
      <vt:lpstr>5 智能化能力</vt:lpstr>
      <vt:lpstr>6 项目演示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万伟杰</dc:creator>
  <cp:lastModifiedBy>伟杰 万</cp:lastModifiedBy>
  <cp:revision>57</cp:revision>
  <dcterms:created xsi:type="dcterms:W3CDTF">2026-01-13T06:46:33Z</dcterms:created>
  <dcterms:modified xsi:type="dcterms:W3CDTF">2026-07-09T06:38:41Z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54A809B9C1109740C3C46569D7B2200A_43</vt:lpwstr>
  </property>
  <property fmtid="{D5CDD505-2E9C-101B-9397-08002B2CF9AE}" pid="3" name="KSOProductBuildVer">
    <vt:lpwstr>2052-12.1.24031.24031</vt:lpwstr>
  </property>
  <property fmtid="{D5CDD505-2E9C-101B-9397-08002B2CF9AE}" pid="4" name="commondata">
    <vt:lpwstr>eyJoZGlkIjoiMDRhNzU0OWJhYjA5ZmE3NjBhMmY3YjM2NGEwNjYzMzcifQ==</vt:lpwstr>
  </property>
</Properties>
</file>